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85" r:id="rId4"/>
    <p:sldId id="308" r:id="rId5"/>
    <p:sldId id="309" r:id="rId6"/>
    <p:sldId id="310" r:id="rId7"/>
    <p:sldId id="311" r:id="rId8"/>
    <p:sldId id="312" r:id="rId9"/>
    <p:sldId id="315" r:id="rId10"/>
    <p:sldId id="313" r:id="rId11"/>
    <p:sldId id="316" r:id="rId12"/>
    <p:sldId id="317" r:id="rId13"/>
    <p:sldId id="314" r:id="rId14"/>
    <p:sldId id="318" r:id="rId15"/>
    <p:sldId id="284" r:id="rId16"/>
  </p:sldIdLst>
  <p:sldSz cx="18288000" cy="10287000"/>
  <p:notesSz cx="6858000" cy="9144000"/>
  <p:embeddedFontLst>
    <p:embeddedFont>
      <p:font typeface="윤고딕" panose="020B0600000101010101" charset="-127"/>
      <p:regular r:id="rId18"/>
    </p:embeddedFont>
    <p:embeddedFont>
      <p:font typeface="윤고딕 Bold" panose="020B0600000101010101" charset="-127"/>
      <p:regular r:id="rId19"/>
    </p:embeddedFont>
    <p:embeddedFont>
      <p:font typeface="윤고딕 Thin" panose="020B0600000101010101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4ECE"/>
    <a:srgbClr val="E5484D"/>
    <a:srgbClr val="534AB7"/>
    <a:srgbClr val="185FA5"/>
    <a:srgbClr val="FFFFFF"/>
    <a:srgbClr val="0F6E56"/>
    <a:srgbClr val="993C1D"/>
    <a:srgbClr val="0070C0"/>
    <a:srgbClr val="2061B7"/>
    <a:srgbClr val="3E7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86580" autoAdjust="0"/>
  </p:normalViewPr>
  <p:slideViewPr>
    <p:cSldViewPr>
      <p:cViewPr varScale="1">
        <p:scale>
          <a:sx n="55" d="100"/>
          <a:sy n="55" d="100"/>
        </p:scale>
        <p:origin x="499" y="77"/>
      </p:cViewPr>
      <p:guideLst>
        <p:guide orient="horz" pos="1848"/>
        <p:guide pos="576"/>
      </p:guideLst>
    </p:cSldViewPr>
  </p:slideViewPr>
  <p:outlineViewPr>
    <p:cViewPr>
      <p:scale>
        <a:sx n="33" d="100"/>
        <a:sy n="33" d="100"/>
      </p:scale>
      <p:origin x="0" y="-125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DAB75-4B07-4020-B843-3C0C3B83211D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A29E9-B4A6-41C0-950A-D764134E77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35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97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01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35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8FF6-98FC-2908-F7CE-3F9129AA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CB2D10-7AAB-1A26-13FE-EB0075B3D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B8C23-15F8-0F71-6CF2-B112C3973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14B3F-E1AA-F605-3420-30BADC10C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13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7746-B66A-F923-BE22-A7FE8AFF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E2667E-E838-7004-1527-FB46A445F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E01879-51C2-92D0-2D07-E59C995C4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9896A-0D30-919E-02C4-3970E725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6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599C-D834-7E07-EEE5-74A2AD7B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1B745-564C-390A-8BE7-9BBA8DDA4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EE8660-8A7D-91A6-3CB6-53F97071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32A1C-D668-F92D-F810-E9D4AF698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13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2A35-C512-531D-C166-307F2767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58C4B8-D355-37A5-1D01-A198C3ADF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AA9363-120C-FD68-1093-487F74623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2BF281-D665-5CEB-CB9E-F6CCB6E03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295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C5E5-3DDB-3A36-348E-127A646C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36823B-3AFF-6A66-AC86-6D41D3EC7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6D503-A66D-75D3-CAD5-532B53342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1EAA9-BB27-0513-34CD-4E0ED8973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98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5BE4-1795-2462-20ED-03C1FC97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848ADB-3E7E-3F17-6682-AC088412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E6A426-5B24-9D74-1830-31187EBD5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DAFC1-F826-965A-69DE-5A4ED8D20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093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D7BE-11A8-30BD-BD57-6A5BFACC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0459C-5D13-7A7A-9EF7-176B9B48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A89C10-92EB-0F53-2F76-99BF8C08C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07368-31ED-05DB-8185-70C9085EA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15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AF14-591B-D578-36A1-447CB696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BDD60F-F5A5-4D5D-631D-45EA0010D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C84078-09A1-2627-3C9E-DCB5C626B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4246A-4484-465C-331B-0A84CB7B6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27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3A2C-135E-B42B-57B3-CDF46628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070726-370E-9B77-6568-B8658012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186218-BF4E-CBD3-961C-ECC0E6E92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648E04-E8EB-20B6-B68B-4D2333A5C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38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F8BE-A874-19E7-A157-1E5F77B3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0170E3-2A79-3B18-5EA8-B2513ACD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614047-DC71-D1EF-8F85-E690339F3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B0E4D-FB48-DECC-6A89-EAC8FEA42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457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FE6D-F4D4-6E8B-9D02-18F0907F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00C616-655F-3186-1994-55B456E9A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98711B-8EF9-CA17-21F6-18601CA9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8C8FB-8BF1-2972-C66B-CA68EC5DB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580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3D80E-3403-4B9E-B6D4-2B1923B18458}" type="slidenum">
              <a:rPr lang="ko-KR" altLang="en-US" smtClean="0">
                <a:solidFill>
                  <a:prstClr val="black"/>
                </a:solidFill>
              </a:rPr>
              <a:pPr/>
              <a:t>15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43393" y="-7246564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2" y="0"/>
                </a:lnTo>
                <a:lnTo>
                  <a:pt x="14062122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14400" y="1790700"/>
            <a:ext cx="8915399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5800" dirty="0" err="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CareAI</a:t>
            </a:r>
            <a:endParaRPr lang="en-US" sz="15800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4E81AD-D042-4A8D-A5E4-A9C2B8C95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074" y="2500687"/>
            <a:ext cx="9422563" cy="9422563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B52959F9-89DB-6B2E-04DA-561BF505D23B}"/>
              </a:ext>
            </a:extLst>
          </p:cNvPr>
          <p:cNvSpPr txBox="1"/>
          <p:nvPr/>
        </p:nvSpPr>
        <p:spPr>
          <a:xfrm>
            <a:off x="919397" y="7381296"/>
            <a:ext cx="9484294" cy="2127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3200" dirty="0" err="1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팀명</a:t>
            </a:r>
            <a:r>
              <a:rPr lang="ko-KR" altLang="en-US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: </a:t>
            </a:r>
            <a:r>
              <a:rPr lang="en-US" altLang="ko-KR" sz="3200" dirty="0" err="1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SilverBridge</a:t>
            </a:r>
            <a:endParaRPr lang="en-US" altLang="ko-KR" sz="3200" dirty="0">
              <a:solidFill>
                <a:srgbClr val="FFFFFF"/>
              </a:solidFill>
              <a:latin typeface="윤고딕" panose="020B0600000101010101" charset="-127"/>
              <a:ea typeface="윤고딕" panose="020B0600000101010101" charset="-127"/>
              <a:cs typeface="윤고딕 Thin"/>
              <a:sym typeface="윤고딕 Thin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팀장 </a:t>
            </a:r>
            <a:r>
              <a:rPr lang="en-US" altLang="ko-KR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: </a:t>
            </a:r>
            <a:r>
              <a:rPr lang="ko-KR" altLang="en-US" sz="3200" dirty="0" err="1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이하늘</a:t>
            </a:r>
            <a:endParaRPr lang="en-US" altLang="ko-KR" sz="3200" dirty="0">
              <a:solidFill>
                <a:srgbClr val="FFFFFF"/>
              </a:solidFill>
              <a:latin typeface="윤고딕" panose="020B0600000101010101" charset="-127"/>
              <a:ea typeface="윤고딕" panose="020B0600000101010101" charset="-127"/>
              <a:cs typeface="윤고딕 Thin"/>
              <a:sym typeface="윤고딕 Thin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팀원 </a:t>
            </a:r>
            <a:r>
              <a:rPr lang="en-US" altLang="ko-KR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: </a:t>
            </a:r>
            <a:r>
              <a:rPr lang="ko-KR" altLang="en-US" sz="3200" dirty="0" err="1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남궁명진</a:t>
            </a:r>
            <a:r>
              <a:rPr lang="en-US" altLang="ko-KR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이윤아</a:t>
            </a:r>
            <a:r>
              <a:rPr lang="en-US" altLang="ko-KR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이재희</a:t>
            </a:r>
            <a:endParaRPr lang="en-US" sz="3200" dirty="0">
              <a:solidFill>
                <a:srgbClr val="FFFFFF"/>
              </a:solidFill>
              <a:latin typeface="윤고딕" panose="020B0600000101010101" charset="-127"/>
              <a:ea typeface="윤고딕" panose="020B0600000101010101" charset="-127"/>
              <a:cs typeface="윤고딕 Thin"/>
              <a:sym typeface="윤고딕 Thin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52959F9-89DB-6B2E-04DA-561BF505D23B}"/>
              </a:ext>
            </a:extLst>
          </p:cNvPr>
          <p:cNvSpPr txBox="1"/>
          <p:nvPr/>
        </p:nvSpPr>
        <p:spPr>
          <a:xfrm>
            <a:off x="948128" y="3517228"/>
            <a:ext cx="7052872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36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AI </a:t>
            </a:r>
            <a:r>
              <a:rPr lang="ko-KR" altLang="en-US" sz="3600" dirty="0">
                <a:solidFill>
                  <a:srgbClr val="FFFFFF"/>
                </a:solidFill>
                <a:latin typeface="윤고딕" panose="020B0600000101010101" charset="-127"/>
                <a:ea typeface="윤고딕" panose="020B0600000101010101" charset="-127"/>
                <a:cs typeface="윤고딕 Thin"/>
                <a:sym typeface="윤고딕 Thin"/>
              </a:rPr>
              <a:t>기반 독거노인 통합 케어 플랫폼</a:t>
            </a:r>
            <a:endParaRPr lang="en-US" altLang="ko-KR" sz="3600" dirty="0">
              <a:solidFill>
                <a:srgbClr val="FFFFFF"/>
              </a:solidFill>
              <a:latin typeface="윤고딕" panose="020B0600000101010101" charset="-127"/>
              <a:ea typeface="윤고딕" panose="020B0600000101010101" charset="-127"/>
              <a:cs typeface="윤고딕 Thin"/>
              <a:sym typeface="윤고딕 Thin"/>
            </a:endParaRPr>
          </a:p>
        </p:txBody>
      </p:sp>
    </p:spTree>
    <p:extLst>
      <p:ext uri="{BB962C8B-B14F-4D97-AF65-F5344CB8AC3E}">
        <p14:creationId xmlns:p14="http://schemas.microsoft.com/office/powerpoint/2010/main" val="1529609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396" y="-8184948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1" y="0"/>
                </a:lnTo>
                <a:lnTo>
                  <a:pt x="14062121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7209894" y="0"/>
            <a:ext cx="11078106" cy="10287000"/>
            <a:chOff x="0" y="0"/>
            <a:chExt cx="2917691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17691" cy="2709333"/>
            </a:xfrm>
            <a:custGeom>
              <a:avLst/>
              <a:gdLst/>
              <a:ahLst/>
              <a:cxnLst/>
              <a:rect l="l" t="t" r="r" b="b"/>
              <a:pathLst>
                <a:path w="2917691" h="2709333">
                  <a:moveTo>
                    <a:pt x="0" y="0"/>
                  </a:moveTo>
                  <a:lnTo>
                    <a:pt x="2917691" y="0"/>
                  </a:lnTo>
                  <a:lnTo>
                    <a:pt x="291769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1769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0" name="AutoShape 10"/>
          <p:cNvSpPr/>
          <p:nvPr/>
        </p:nvSpPr>
        <p:spPr>
          <a:xfrm>
            <a:off x="7593146" y="950560"/>
            <a:ext cx="0" cy="868873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466811" y="141617"/>
            <a:ext cx="252670" cy="808944"/>
            <a:chOff x="0" y="0"/>
            <a:chExt cx="66547" cy="4763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47" cy="476364"/>
            </a:xfrm>
            <a:custGeom>
              <a:avLst/>
              <a:gdLst/>
              <a:ahLst/>
              <a:cxnLst/>
              <a:rect l="l" t="t" r="r" b="b"/>
              <a:pathLst>
                <a:path w="66547" h="476364">
                  <a:moveTo>
                    <a:pt x="0" y="0"/>
                  </a:moveTo>
                  <a:lnTo>
                    <a:pt x="66547" y="0"/>
                  </a:lnTo>
                  <a:lnTo>
                    <a:pt x="66547" y="476364"/>
                  </a:lnTo>
                  <a:lnTo>
                    <a:pt x="0" y="476364"/>
                  </a:lnTo>
                  <a:close/>
                </a:path>
              </a:pathLst>
            </a:custGeom>
            <a:solidFill>
              <a:srgbClr val="014D88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547" cy="51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80E5B88-446E-4246-B348-D20F4952D66E}"/>
              </a:ext>
            </a:extLst>
          </p:cNvPr>
          <p:cNvGrpSpPr/>
          <p:nvPr/>
        </p:nvGrpSpPr>
        <p:grpSpPr>
          <a:xfrm>
            <a:off x="8104589" y="1528210"/>
            <a:ext cx="6602011" cy="2810979"/>
            <a:chOff x="9660205" y="4776763"/>
            <a:chExt cx="6602011" cy="2810979"/>
          </a:xfrm>
        </p:grpSpPr>
        <p:sp>
          <p:nvSpPr>
            <p:cNvPr id="16" name="TextBox 16"/>
            <p:cNvSpPr txBox="1"/>
            <p:nvPr/>
          </p:nvSpPr>
          <p:spPr>
            <a:xfrm>
              <a:off x="9662634" y="4776763"/>
              <a:ext cx="6599582" cy="520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42"/>
                </a:lnSpc>
                <a:spcBef>
                  <a:spcPct val="0"/>
                </a:spcBef>
              </a:pPr>
              <a:r>
                <a:rPr lang="en-US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1. </a:t>
              </a:r>
              <a:r>
                <a:rPr lang="ko-KR" altLang="en-US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구현 계획</a:t>
              </a:r>
              <a:endParaRPr lang="en-US" sz="3173" dirty="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60205" y="5371045"/>
              <a:ext cx="6599582" cy="2216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46"/>
                </a:lnSpc>
                <a:spcBef>
                  <a:spcPct val="0"/>
                </a:spcBef>
              </a:pPr>
              <a:r>
                <a:rPr lang="ko-KR" altLang="en-US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구현하고자 하는 전체 기능</a:t>
              </a:r>
            </a:p>
            <a:p>
              <a:pPr>
                <a:lnSpc>
                  <a:spcPts val="3546"/>
                </a:lnSpc>
                <a:spcBef>
                  <a:spcPct val="0"/>
                </a:spcBef>
              </a:pPr>
              <a:r>
                <a:rPr lang="en-US" altLang="ko-KR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1</a:t>
              </a:r>
              <a:r>
                <a:rPr lang="ko-KR" altLang="en-US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학기때까지 구현된 기능</a:t>
              </a:r>
            </a:p>
            <a:p>
              <a:pPr>
                <a:lnSpc>
                  <a:spcPts val="3546"/>
                </a:lnSpc>
                <a:spcBef>
                  <a:spcPct val="0"/>
                </a:spcBef>
              </a:pPr>
              <a:r>
                <a:rPr lang="ko-KR" altLang="en-US" sz="2533" dirty="0" err="1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방학때</a:t>
              </a:r>
              <a:r>
                <a:rPr lang="ko-KR" altLang="en-US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 구현된 기능</a:t>
              </a:r>
            </a:p>
            <a:p>
              <a:pPr>
                <a:lnSpc>
                  <a:spcPts val="3546"/>
                </a:lnSpc>
                <a:spcBef>
                  <a:spcPct val="0"/>
                </a:spcBef>
              </a:pPr>
              <a:r>
                <a:rPr lang="ko-KR" altLang="en-US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더 추가로 구현할 기능</a:t>
              </a:r>
            </a:p>
            <a:p>
              <a:pPr>
                <a:lnSpc>
                  <a:spcPts val="3546"/>
                </a:lnSpc>
                <a:spcBef>
                  <a:spcPct val="0"/>
                </a:spcBef>
              </a:pPr>
              <a:r>
                <a:rPr lang="en-US" altLang="ko-KR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AI </a:t>
              </a:r>
              <a:r>
                <a:rPr lang="ko-KR" altLang="en-US" sz="2533" dirty="0">
                  <a:solidFill>
                    <a:srgbClr val="000000"/>
                  </a:solidFill>
                  <a:latin typeface="윤고딕 Thin"/>
                  <a:ea typeface="윤고딕 Thin"/>
                  <a:cs typeface="윤고딕 Thin"/>
                  <a:sym typeface="윤고딕 Thin"/>
                </a:rPr>
                <a:t>활용 계획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001000" y="207151"/>
            <a:ext cx="7293552" cy="74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ko-KR" altLang="en-US" sz="4499" dirty="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목차</a:t>
            </a:r>
            <a:endParaRPr lang="en-US" sz="4499" dirty="0">
              <a:solidFill>
                <a:srgbClr val="000000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4309EF0-CD51-4D6C-B31B-DAC0E6ABEB72}"/>
              </a:ext>
            </a:extLst>
          </p:cNvPr>
          <p:cNvGrpSpPr/>
          <p:nvPr/>
        </p:nvGrpSpPr>
        <p:grpSpPr>
          <a:xfrm>
            <a:off x="8104589" y="4764190"/>
            <a:ext cx="6599582" cy="1015616"/>
            <a:chOff x="9660205" y="6308591"/>
            <a:chExt cx="6599582" cy="1015616"/>
          </a:xfrm>
        </p:grpSpPr>
        <p:sp>
          <p:nvSpPr>
            <p:cNvPr id="21" name="TextBox 21"/>
            <p:cNvSpPr txBox="1"/>
            <p:nvPr/>
          </p:nvSpPr>
          <p:spPr>
            <a:xfrm>
              <a:off x="9660205" y="6308591"/>
              <a:ext cx="6599582" cy="520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42"/>
                </a:lnSpc>
                <a:spcBef>
                  <a:spcPct val="0"/>
                </a:spcBef>
              </a:pPr>
              <a:r>
                <a:rPr lang="en-US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2. </a:t>
              </a:r>
              <a:r>
                <a:rPr lang="ko-KR" altLang="en-US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기능</a:t>
              </a:r>
              <a:r>
                <a:rPr lang="en-US" altLang="ko-KR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/</a:t>
              </a:r>
              <a:r>
                <a:rPr lang="ko-KR" altLang="en-US" sz="3173" dirty="0">
                  <a:solidFill>
                    <a:srgbClr val="000000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사용자 테스트 계획</a:t>
              </a:r>
              <a:endParaRPr lang="en-US" sz="3173" dirty="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60205" y="6902873"/>
              <a:ext cx="6132260" cy="42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546"/>
                </a:lnSpc>
                <a:spcBef>
                  <a:spcPct val="0"/>
                </a:spcBef>
              </a:pPr>
              <a:endParaRPr lang="ko-KR" altLang="en-US" sz="2533" dirty="0">
                <a:solidFill>
                  <a:srgbClr val="000000"/>
                </a:solidFill>
                <a:latin typeface="윤고딕 Thin"/>
                <a:ea typeface="윤고딕 Thin"/>
                <a:cs typeface="윤고딕 Thin"/>
                <a:sym typeface="윤고딕 Thin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104589" y="5924467"/>
            <a:ext cx="4411739" cy="520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42"/>
              </a:lnSpc>
              <a:spcBef>
                <a:spcPct val="0"/>
              </a:spcBef>
            </a:pPr>
            <a:r>
              <a:rPr lang="en-US" sz="3173" dirty="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3. </a:t>
            </a:r>
            <a:r>
              <a:rPr lang="ko-KR" altLang="en-US" sz="3173" dirty="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경진대회 출품 계획</a:t>
            </a:r>
            <a:endParaRPr lang="en-US" sz="3173" dirty="0">
              <a:solidFill>
                <a:srgbClr val="000000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AB99EAB-0597-D2EC-6182-CA9487CCED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38" t="59587" r="52309" b="11412"/>
          <a:stretch>
            <a:fillRect/>
          </a:stretch>
        </p:blipFill>
        <p:spPr>
          <a:xfrm>
            <a:off x="2479166" y="3300157"/>
            <a:ext cx="4779290" cy="3288310"/>
          </a:xfrm>
          <a:prstGeom prst="snip1Rect">
            <a:avLst>
              <a:gd name="adj" fmla="val 25146"/>
            </a:avLst>
          </a:prstGeom>
        </p:spPr>
      </p:pic>
      <p:sp>
        <p:nvSpPr>
          <p:cNvPr id="43" name="TextBox 9">
            <a:extLst>
              <a:ext uri="{FF2B5EF4-FFF2-40B4-BE49-F238E27FC236}">
                <a16:creationId xmlns:a16="http://schemas.microsoft.com/office/drawing/2014/main" id="{9058A6BC-2EA9-4F71-90F2-61B3791A4DE2}"/>
              </a:ext>
            </a:extLst>
          </p:cNvPr>
          <p:cNvSpPr txBox="1"/>
          <p:nvPr/>
        </p:nvSpPr>
        <p:spPr>
          <a:xfrm>
            <a:off x="1117180" y="1115830"/>
            <a:ext cx="5597511" cy="1817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1016" dirty="0" err="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CareAI</a:t>
            </a:r>
            <a:endParaRPr lang="en-US" sz="11016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</p:spTree>
    <p:extLst>
      <p:ext uri="{BB962C8B-B14F-4D97-AF65-F5344CB8AC3E}">
        <p14:creationId xmlns:p14="http://schemas.microsoft.com/office/powerpoint/2010/main" val="289050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43393" y="-7246564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2" y="0"/>
                </a:lnTo>
                <a:lnTo>
                  <a:pt x="14062122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90600" y="2040101"/>
            <a:ext cx="11304183" cy="1817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1. </a:t>
            </a:r>
            <a:r>
              <a:rPr lang="ko-KR" alt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구현 계획</a:t>
            </a:r>
            <a:endParaRPr lang="en-US" sz="11016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6FDB2E94-DB02-41EA-ABE1-2D0B7788FB11}"/>
              </a:ext>
            </a:extLst>
          </p:cNvPr>
          <p:cNvSpPr txBox="1"/>
          <p:nvPr/>
        </p:nvSpPr>
        <p:spPr>
          <a:xfrm>
            <a:off x="1139775" y="3857971"/>
            <a:ext cx="4346625" cy="316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구현하고자 하는 전체 기능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1</a:t>
            </a:r>
            <a:r>
              <a:rPr lang="ko-KR" altLang="en-US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학기때까지 구현된 기능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800" dirty="0" err="1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방학때</a:t>
            </a:r>
            <a:r>
              <a:rPr lang="ko-KR" altLang="en-US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 구현된 기능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더 추가로 구현할 기능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ko-KR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AI </a:t>
            </a:r>
            <a:r>
              <a:rPr lang="ko-KR" altLang="en-US" sz="2800" dirty="0">
                <a:solidFill>
                  <a:prstClr val="white">
                    <a:lumMod val="75000"/>
                  </a:prstClr>
                </a:solidFill>
                <a:latin typeface="윤고딕 Thin" panose="020B0600000101010101" charset="-127"/>
                <a:ea typeface="윤고딕 Thin" panose="020B0600000101010101" charset="-127"/>
                <a:cs typeface="윤고딕 Thin"/>
                <a:sym typeface="윤고딕 Thin"/>
              </a:rPr>
              <a:t>활용 계획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4E81AD-D042-4A8D-A5E4-A9C2B8C95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074" y="2500687"/>
            <a:ext cx="9422563" cy="942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17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1B26-1DEF-CE47-6F50-BA29D47B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F29DC1-A065-B05C-0A57-92A90FFBDB00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032EB9-B540-1C21-FC28-96A031F99019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D35FDD-D1EA-0954-D129-296CEA175371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BC48D51F-4B13-90E8-C372-9BDA6C6C8EA4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F5AD53-F998-BA49-6F57-4F391649132B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구현하고자 하는 전체 기능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C7BF24B-ACA1-7A2A-6396-B473D4F1E0A1}"/>
              </a:ext>
            </a:extLst>
          </p:cNvPr>
          <p:cNvSpPr/>
          <p:nvPr/>
        </p:nvSpPr>
        <p:spPr>
          <a:xfrm>
            <a:off x="7148706" y="4076700"/>
            <a:ext cx="3576853" cy="3460639"/>
          </a:xfrm>
          <a:prstGeom prst="ellipse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EDA8B5CA-BBF7-2AA8-ED66-1A3B78A626F2}"/>
              </a:ext>
            </a:extLst>
          </p:cNvPr>
          <p:cNvCxnSpPr>
            <a:cxnSpLocks/>
            <a:stCxn id="80" idx="3"/>
            <a:endCxn id="30" idx="1"/>
          </p:cNvCxnSpPr>
          <p:nvPr/>
        </p:nvCxnSpPr>
        <p:spPr>
          <a:xfrm>
            <a:off x="6236462" y="3866376"/>
            <a:ext cx="1436062" cy="717123"/>
          </a:xfrm>
          <a:prstGeom prst="curvedConnector2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2E600EC7-C051-45AD-2348-5EAF37CA2FCA}"/>
              </a:ext>
            </a:extLst>
          </p:cNvPr>
          <p:cNvCxnSpPr>
            <a:cxnSpLocks/>
            <a:stCxn id="55" idx="3"/>
            <a:endCxn id="30" idx="3"/>
          </p:cNvCxnSpPr>
          <p:nvPr/>
        </p:nvCxnSpPr>
        <p:spPr>
          <a:xfrm flipV="1">
            <a:off x="6227262" y="7030540"/>
            <a:ext cx="1445262" cy="720352"/>
          </a:xfrm>
          <a:prstGeom prst="curvedConnector2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0FAC0D9-25F8-1654-FDFF-65ACD0D9E6D3}"/>
              </a:ext>
            </a:extLst>
          </p:cNvPr>
          <p:cNvCxnSpPr>
            <a:cxnSpLocks/>
            <a:stCxn id="58" idx="3"/>
            <a:endCxn id="30" idx="2"/>
          </p:cNvCxnSpPr>
          <p:nvPr/>
        </p:nvCxnSpPr>
        <p:spPr>
          <a:xfrm flipV="1">
            <a:off x="6230140" y="5807020"/>
            <a:ext cx="918566" cy="6145"/>
          </a:xfrm>
          <a:prstGeom prst="curvedConnector3">
            <a:avLst>
              <a:gd name="adj1" fmla="val 50000"/>
            </a:avLst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E687E75-410A-2CB5-795D-7C58B110ABB1}"/>
              </a:ext>
            </a:extLst>
          </p:cNvPr>
          <p:cNvCxnSpPr>
            <a:cxnSpLocks/>
            <a:stCxn id="71" idx="1"/>
            <a:endCxn id="30" idx="6"/>
          </p:cNvCxnSpPr>
          <p:nvPr/>
        </p:nvCxnSpPr>
        <p:spPr>
          <a:xfrm flipH="1">
            <a:off x="10725559" y="5804886"/>
            <a:ext cx="831238" cy="2134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0DD95F7C-77A8-5902-7FAE-32291AC2D0E0}"/>
              </a:ext>
            </a:extLst>
          </p:cNvPr>
          <p:cNvCxnSpPr>
            <a:cxnSpLocks/>
            <a:stCxn id="77" idx="1"/>
            <a:endCxn id="30" idx="5"/>
          </p:cNvCxnSpPr>
          <p:nvPr/>
        </p:nvCxnSpPr>
        <p:spPr>
          <a:xfrm rot="10800000">
            <a:off x="10201741" y="7030540"/>
            <a:ext cx="1364580" cy="721408"/>
          </a:xfrm>
          <a:prstGeom prst="curvedConnector2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 31">
            <a:extLst>
              <a:ext uri="{FF2B5EF4-FFF2-40B4-BE49-F238E27FC236}">
                <a16:creationId xmlns:a16="http://schemas.microsoft.com/office/drawing/2014/main" id="{84CF57C7-458A-0A68-A671-1A4476CA91F0}"/>
              </a:ext>
            </a:extLst>
          </p:cNvPr>
          <p:cNvSpPr/>
          <p:nvPr/>
        </p:nvSpPr>
        <p:spPr>
          <a:xfrm>
            <a:off x="7429500" y="4381500"/>
            <a:ext cx="3048000" cy="2838525"/>
          </a:xfrm>
          <a:prstGeom prst="ellipse">
            <a:avLst/>
          </a:prstGeom>
          <a:solidFill>
            <a:srgbClr val="1A44C2"/>
          </a:solidFill>
          <a:ln/>
          <a:effectLst>
            <a:outerShdw blurRad="228600" dist="57150" dir="5400000" algn="bl" rotWithShape="0">
              <a:srgbClr val="1A44C2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2464B331-AEEC-73F7-9215-483C6EAA2BA4}"/>
              </a:ext>
            </a:extLst>
          </p:cNvPr>
          <p:cNvSpPr/>
          <p:nvPr/>
        </p:nvSpPr>
        <p:spPr>
          <a:xfrm>
            <a:off x="11566321" y="3044311"/>
            <a:ext cx="5176040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B8C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72A4AB70-5906-0CC8-16D4-F274F98D716B}"/>
              </a:ext>
            </a:extLst>
          </p:cNvPr>
          <p:cNvSpPr/>
          <p:nvPr/>
        </p:nvSpPr>
        <p:spPr>
          <a:xfrm>
            <a:off x="11838645" y="3223239"/>
            <a:ext cx="695811" cy="695811"/>
          </a:xfrm>
          <a:prstGeom prst="roundRect">
            <a:avLst>
              <a:gd name="adj" fmla="val 23529"/>
            </a:avLst>
          </a:prstGeom>
          <a:solidFill>
            <a:srgbClr val="D6DFF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0657CB31-2412-7AAF-D493-55A75B3D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137" y="3339569"/>
            <a:ext cx="457303" cy="457303"/>
          </a:xfrm>
          <a:prstGeom prst="rect">
            <a:avLst/>
          </a:prstGeom>
        </p:spPr>
      </p:pic>
      <p:sp>
        <p:nvSpPr>
          <p:cNvPr id="49" name="Text 16">
            <a:extLst>
              <a:ext uri="{FF2B5EF4-FFF2-40B4-BE49-F238E27FC236}">
                <a16:creationId xmlns:a16="http://schemas.microsoft.com/office/drawing/2014/main" id="{4A75DFFA-5E12-95CB-5D77-DB05708787DE}"/>
              </a:ext>
            </a:extLst>
          </p:cNvPr>
          <p:cNvSpPr/>
          <p:nvPr/>
        </p:nvSpPr>
        <p:spPr>
          <a:xfrm>
            <a:off x="12229170" y="3999146"/>
            <a:ext cx="91380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endParaRPr lang="en-US" sz="675" dirty="0">
              <a:solidFill>
                <a:prstClr val="black"/>
              </a:solidFill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60F7B8BD-A90B-F27F-7388-4ADE8C4FA829}"/>
              </a:ext>
            </a:extLst>
          </p:cNvPr>
          <p:cNvSpPr/>
          <p:nvPr/>
        </p:nvSpPr>
        <p:spPr>
          <a:xfrm>
            <a:off x="11838645" y="4355440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endParaRPr lang="en-US" sz="788" dirty="0">
              <a:solidFill>
                <a:prstClr val="black"/>
              </a:solidFill>
            </a:endParaRPr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A08E2396-1F16-F363-AF3F-AC33C50A18A3}"/>
              </a:ext>
            </a:extLst>
          </p:cNvPr>
          <p:cNvSpPr/>
          <p:nvPr/>
        </p:nvSpPr>
        <p:spPr>
          <a:xfrm>
            <a:off x="11838645" y="4523914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endParaRPr lang="en-US" sz="788" dirty="0">
              <a:solidFill>
                <a:prstClr val="black"/>
              </a:solidFill>
            </a:endParaRPr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D18E547F-1495-2380-BB76-31E0840604A4}"/>
              </a:ext>
            </a:extLst>
          </p:cNvPr>
          <p:cNvSpPr/>
          <p:nvPr/>
        </p:nvSpPr>
        <p:spPr>
          <a:xfrm>
            <a:off x="1054100" y="6929284"/>
            <a:ext cx="5173162" cy="1643216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C1C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E5F8A720-E011-71A7-2104-CE6A923F614D}"/>
              </a:ext>
            </a:extLst>
          </p:cNvPr>
          <p:cNvSpPr/>
          <p:nvPr/>
        </p:nvSpPr>
        <p:spPr>
          <a:xfrm>
            <a:off x="1326424" y="7115048"/>
            <a:ext cx="695811" cy="695811"/>
          </a:xfrm>
          <a:prstGeom prst="roundRect">
            <a:avLst>
              <a:gd name="adj" fmla="val 23529"/>
            </a:avLst>
          </a:prstGeom>
          <a:solidFill>
            <a:srgbClr val="C8EE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B34D720E-92DE-E198-DC29-A0AE5599A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916" y="7224028"/>
            <a:ext cx="477861" cy="477861"/>
          </a:xfrm>
          <a:prstGeom prst="rect">
            <a:avLst/>
          </a:prstGeom>
        </p:spPr>
      </p:pic>
      <p:sp>
        <p:nvSpPr>
          <p:cNvPr id="58" name="Shape 35">
            <a:extLst>
              <a:ext uri="{FF2B5EF4-FFF2-40B4-BE49-F238E27FC236}">
                <a16:creationId xmlns:a16="http://schemas.microsoft.com/office/drawing/2014/main" id="{ECB1CCE4-E81A-64EE-D045-4DD781ACC338}"/>
              </a:ext>
            </a:extLst>
          </p:cNvPr>
          <p:cNvSpPr/>
          <p:nvPr/>
        </p:nvSpPr>
        <p:spPr>
          <a:xfrm>
            <a:off x="1054100" y="4991100"/>
            <a:ext cx="5176040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C1C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F0BBBCAC-F129-5F9E-7494-C0E030CF6C6D}"/>
              </a:ext>
            </a:extLst>
          </p:cNvPr>
          <p:cNvSpPr/>
          <p:nvPr/>
        </p:nvSpPr>
        <p:spPr>
          <a:xfrm>
            <a:off x="1328615" y="5137467"/>
            <a:ext cx="716310" cy="716310"/>
          </a:xfrm>
          <a:prstGeom prst="roundRect">
            <a:avLst>
              <a:gd name="adj" fmla="val 23529"/>
            </a:avLst>
          </a:prstGeom>
          <a:solidFill>
            <a:srgbClr val="E2D8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9" name="Image 4" descr="preencoded.png">
            <a:extLst>
              <a:ext uri="{FF2B5EF4-FFF2-40B4-BE49-F238E27FC236}">
                <a16:creationId xmlns:a16="http://schemas.microsoft.com/office/drawing/2014/main" id="{75B7C8B6-17AF-7B02-71A6-9AC1968C3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454" y="5217864"/>
            <a:ext cx="556712" cy="556712"/>
          </a:xfrm>
          <a:prstGeom prst="rect">
            <a:avLst/>
          </a:prstGeom>
        </p:spPr>
      </p:pic>
      <p:sp>
        <p:nvSpPr>
          <p:cNvPr id="71" name="Shape 44">
            <a:extLst>
              <a:ext uri="{FF2B5EF4-FFF2-40B4-BE49-F238E27FC236}">
                <a16:creationId xmlns:a16="http://schemas.microsoft.com/office/drawing/2014/main" id="{7D87677D-5FEB-74E7-1800-A0ECB255EC64}"/>
              </a:ext>
            </a:extLst>
          </p:cNvPr>
          <p:cNvSpPr/>
          <p:nvPr/>
        </p:nvSpPr>
        <p:spPr>
          <a:xfrm>
            <a:off x="11556797" y="4982821"/>
            <a:ext cx="5176040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C1C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46">
            <a:extLst>
              <a:ext uri="{FF2B5EF4-FFF2-40B4-BE49-F238E27FC236}">
                <a16:creationId xmlns:a16="http://schemas.microsoft.com/office/drawing/2014/main" id="{3808D560-8B39-D5DF-DA04-6C86287FF930}"/>
              </a:ext>
            </a:extLst>
          </p:cNvPr>
          <p:cNvSpPr/>
          <p:nvPr/>
        </p:nvSpPr>
        <p:spPr>
          <a:xfrm>
            <a:off x="11836266" y="5113039"/>
            <a:ext cx="698190" cy="698190"/>
          </a:xfrm>
          <a:prstGeom prst="roundRect">
            <a:avLst>
              <a:gd name="adj" fmla="val 23529"/>
            </a:avLst>
          </a:prstGeom>
          <a:solidFill>
            <a:srgbClr val="FAE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5" descr="preencoded.png">
            <a:extLst>
              <a:ext uri="{FF2B5EF4-FFF2-40B4-BE49-F238E27FC236}">
                <a16:creationId xmlns:a16="http://schemas.microsoft.com/office/drawing/2014/main" id="{C20C9046-B4C0-710B-F5EC-BB16FE109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3768" y="5225869"/>
            <a:ext cx="547831" cy="547831"/>
          </a:xfrm>
          <a:prstGeom prst="rect">
            <a:avLst/>
          </a:prstGeom>
        </p:spPr>
      </p:pic>
      <p:sp>
        <p:nvSpPr>
          <p:cNvPr id="77" name="Shape 53">
            <a:extLst>
              <a:ext uri="{FF2B5EF4-FFF2-40B4-BE49-F238E27FC236}">
                <a16:creationId xmlns:a16="http://schemas.microsoft.com/office/drawing/2014/main" id="{3C82C9BC-24CB-FCD7-B503-B5F314EBBCAC}"/>
              </a:ext>
            </a:extLst>
          </p:cNvPr>
          <p:cNvSpPr/>
          <p:nvPr/>
        </p:nvSpPr>
        <p:spPr>
          <a:xfrm>
            <a:off x="11566321" y="6931396"/>
            <a:ext cx="5166515" cy="1641104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C1C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5">
            <a:extLst>
              <a:ext uri="{FF2B5EF4-FFF2-40B4-BE49-F238E27FC236}">
                <a16:creationId xmlns:a16="http://schemas.microsoft.com/office/drawing/2014/main" id="{7CEF610B-E39E-4AD5-0853-DF4DAF993E93}"/>
              </a:ext>
            </a:extLst>
          </p:cNvPr>
          <p:cNvSpPr/>
          <p:nvPr/>
        </p:nvSpPr>
        <p:spPr>
          <a:xfrm>
            <a:off x="11838645" y="7103521"/>
            <a:ext cx="695811" cy="695811"/>
          </a:xfrm>
          <a:prstGeom prst="roundRect">
            <a:avLst>
              <a:gd name="adj" fmla="val 23529"/>
            </a:avLst>
          </a:prstGeom>
          <a:solidFill>
            <a:srgbClr val="C4ED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9A3DB998-DC1D-BADF-3A6C-8B038D35A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5673" y="7205447"/>
            <a:ext cx="497794" cy="497794"/>
          </a:xfrm>
          <a:prstGeom prst="rect">
            <a:avLst/>
          </a:prstGeom>
        </p:spPr>
      </p:pic>
      <p:sp>
        <p:nvSpPr>
          <p:cNvPr id="80" name="Shape 4">
            <a:extLst>
              <a:ext uri="{FF2B5EF4-FFF2-40B4-BE49-F238E27FC236}">
                <a16:creationId xmlns:a16="http://schemas.microsoft.com/office/drawing/2014/main" id="{F4A9F81A-4873-5720-6337-F446B11E8B31}"/>
              </a:ext>
            </a:extLst>
          </p:cNvPr>
          <p:cNvSpPr/>
          <p:nvPr/>
        </p:nvSpPr>
        <p:spPr>
          <a:xfrm>
            <a:off x="1060422" y="3044311"/>
            <a:ext cx="5176040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C1CD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AC827BD4-754F-5DA5-D7ED-6F6969AAC28F}"/>
              </a:ext>
            </a:extLst>
          </p:cNvPr>
          <p:cNvSpPr/>
          <p:nvPr/>
        </p:nvSpPr>
        <p:spPr>
          <a:xfrm>
            <a:off x="1332429" y="3201544"/>
            <a:ext cx="689806" cy="689806"/>
          </a:xfrm>
          <a:prstGeom prst="roundRect">
            <a:avLst>
              <a:gd name="adj" fmla="val 23529"/>
            </a:avLst>
          </a:prstGeom>
          <a:solidFill>
            <a:srgbClr val="FCDDD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2" name="Image 1" descr="preencoded.png">
            <a:extLst>
              <a:ext uri="{FF2B5EF4-FFF2-40B4-BE49-F238E27FC236}">
                <a16:creationId xmlns:a16="http://schemas.microsoft.com/office/drawing/2014/main" id="{505E84AA-9884-1869-F47D-79D4AAB3CD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4736" y="3352603"/>
            <a:ext cx="365191" cy="365191"/>
          </a:xfrm>
          <a:prstGeom prst="rect">
            <a:avLst/>
          </a:prstGeom>
        </p:spPr>
      </p:pic>
      <p:sp>
        <p:nvSpPr>
          <p:cNvPr id="83" name="Text 7">
            <a:extLst>
              <a:ext uri="{FF2B5EF4-FFF2-40B4-BE49-F238E27FC236}">
                <a16:creationId xmlns:a16="http://schemas.microsoft.com/office/drawing/2014/main" id="{ED51968A-2FDC-020A-8670-F0FDD1D82CF8}"/>
              </a:ext>
            </a:extLst>
          </p:cNvPr>
          <p:cNvSpPr/>
          <p:nvPr/>
        </p:nvSpPr>
        <p:spPr>
          <a:xfrm>
            <a:off x="2203209" y="3226723"/>
            <a:ext cx="377732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b="1" kern="0" spc="68" dirty="0">
                <a:solidFill>
                  <a:srgbClr val="1C48CD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01</a:t>
            </a:r>
            <a:endParaRPr lang="en-US" dirty="0">
              <a:solidFill>
                <a:srgbClr val="1C48CD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20ABEF4C-86FD-C5B6-3962-455DFDCF51F0}"/>
              </a:ext>
            </a:extLst>
          </p:cNvPr>
          <p:cNvSpPr/>
          <p:nvPr/>
        </p:nvSpPr>
        <p:spPr>
          <a:xfrm>
            <a:off x="2203209" y="3535198"/>
            <a:ext cx="2444991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11111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AI </a:t>
            </a:r>
            <a:r>
              <a:rPr lang="ko-KR" altLang="en-US" dirty="0">
                <a:solidFill>
                  <a:srgbClr val="111111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정서 상태 분석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1D4E270F-E8A1-DA5C-FB38-140539C41019}"/>
              </a:ext>
            </a:extLst>
          </p:cNvPr>
          <p:cNvSpPr/>
          <p:nvPr/>
        </p:nvSpPr>
        <p:spPr>
          <a:xfrm>
            <a:off x="2208990" y="3884022"/>
            <a:ext cx="4157017" cy="68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텍스트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+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표정으로 </a:t>
            </a:r>
            <a:r>
              <a:rPr 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AI </a:t>
            </a:r>
            <a:r>
              <a:rPr lang="en-US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분석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을 통해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이상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심리 상태 </a:t>
            </a: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조기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감지</a:t>
            </a:r>
            <a:endParaRPr lang="en-US" altLang="ko-KR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>
              <a:lnSpc>
                <a:spcPct val="140000"/>
              </a:lnSpc>
            </a:pPr>
            <a:endParaRPr lang="en-US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9C8D8691-FBF3-92D3-6FD8-342C7FF20CC9}"/>
              </a:ext>
            </a:extLst>
          </p:cNvPr>
          <p:cNvSpPr/>
          <p:nvPr/>
        </p:nvSpPr>
        <p:spPr>
          <a:xfrm>
            <a:off x="1494736" y="4191239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endParaRPr lang="en-US" sz="12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5477DFCA-88DB-D930-494B-4A325F20A676}"/>
              </a:ext>
            </a:extLst>
          </p:cNvPr>
          <p:cNvSpPr/>
          <p:nvPr/>
        </p:nvSpPr>
        <p:spPr>
          <a:xfrm>
            <a:off x="12728131" y="3263032"/>
            <a:ext cx="533438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b="1" kern="0" spc="68" dirty="0">
                <a:solidFill>
                  <a:srgbClr val="1A44C2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04</a:t>
            </a:r>
            <a:endParaRPr lang="en-US" altLang="ko-KR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88" name="Text 8">
            <a:extLst>
              <a:ext uri="{FF2B5EF4-FFF2-40B4-BE49-F238E27FC236}">
                <a16:creationId xmlns:a16="http://schemas.microsoft.com/office/drawing/2014/main" id="{6F464339-A126-F08A-BAAF-D34F1FB8DA80}"/>
              </a:ext>
            </a:extLst>
          </p:cNvPr>
          <p:cNvSpPr/>
          <p:nvPr/>
        </p:nvSpPr>
        <p:spPr>
          <a:xfrm>
            <a:off x="12715430" y="3571507"/>
            <a:ext cx="3134170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실시간 이상 감지 알림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3E6B9DF3-3527-B310-4DF2-13F3DC291C35}"/>
              </a:ext>
            </a:extLst>
          </p:cNvPr>
          <p:cNvSpPr/>
          <p:nvPr/>
        </p:nvSpPr>
        <p:spPr>
          <a:xfrm>
            <a:off x="12728131" y="3953486"/>
            <a:ext cx="3330066" cy="651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카메라로 화재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·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흉기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·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낙상 자동 감지 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위험 상황 발생 시 가족에게 즉시 알림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8D50708A-4D83-9B73-9B85-0A992BEF010D}"/>
              </a:ext>
            </a:extLst>
          </p:cNvPr>
          <p:cNvSpPr/>
          <p:nvPr/>
        </p:nvSpPr>
        <p:spPr>
          <a:xfrm>
            <a:off x="2214255" y="7104188"/>
            <a:ext cx="533438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b="1" kern="0" spc="68" dirty="0">
                <a:solidFill>
                  <a:srgbClr val="1C48CD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03</a:t>
            </a:r>
            <a:endParaRPr lang="en-US" altLang="ko-KR" dirty="0">
              <a:solidFill>
                <a:srgbClr val="1C48CD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F6178B91-70BA-9930-F59D-A807928C3FEA}"/>
              </a:ext>
            </a:extLst>
          </p:cNvPr>
          <p:cNvSpPr/>
          <p:nvPr/>
        </p:nvSpPr>
        <p:spPr>
          <a:xfrm>
            <a:off x="2214255" y="7412663"/>
            <a:ext cx="1837840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치매 예방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2" name="Text 11">
            <a:extLst>
              <a:ext uri="{FF2B5EF4-FFF2-40B4-BE49-F238E27FC236}">
                <a16:creationId xmlns:a16="http://schemas.microsoft.com/office/drawing/2014/main" id="{86281BB0-08C4-2764-05D3-3DB56F08267D}"/>
              </a:ext>
            </a:extLst>
          </p:cNvPr>
          <p:cNvSpPr/>
          <p:nvPr/>
        </p:nvSpPr>
        <p:spPr>
          <a:xfrm>
            <a:off x="2226956" y="7758515"/>
            <a:ext cx="3330066" cy="38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기억력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·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집중력 맞춤형 인지 훈련 게임 제공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3E0A3F7B-C987-2521-9EAD-80872D68E9DB}"/>
              </a:ext>
            </a:extLst>
          </p:cNvPr>
          <p:cNvSpPr/>
          <p:nvPr/>
        </p:nvSpPr>
        <p:spPr>
          <a:xfrm>
            <a:off x="2202968" y="5173512"/>
            <a:ext cx="602086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b="1" kern="0" spc="68" dirty="0">
                <a:solidFill>
                  <a:srgbClr val="1C48CD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02</a:t>
            </a:r>
            <a:endParaRPr lang="en-US" altLang="ko-KR" dirty="0">
              <a:solidFill>
                <a:srgbClr val="1C48CD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9B80FC2C-AC8B-89CF-1200-E3E8B5F6FF04}"/>
              </a:ext>
            </a:extLst>
          </p:cNvPr>
          <p:cNvSpPr/>
          <p:nvPr/>
        </p:nvSpPr>
        <p:spPr>
          <a:xfrm>
            <a:off x="2202968" y="5481987"/>
            <a:ext cx="1221581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말벗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5" name="Text 12">
            <a:extLst>
              <a:ext uri="{FF2B5EF4-FFF2-40B4-BE49-F238E27FC236}">
                <a16:creationId xmlns:a16="http://schemas.microsoft.com/office/drawing/2014/main" id="{EF0A3024-61C9-2945-1C0E-77B8A4D46FA1}"/>
              </a:ext>
            </a:extLst>
          </p:cNvPr>
          <p:cNvSpPr/>
          <p:nvPr/>
        </p:nvSpPr>
        <p:spPr>
          <a:xfrm>
            <a:off x="1456258" y="6138028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endParaRPr lang="en-US" sz="12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60AC0990-C939-92F6-28A5-45063F6FC651}"/>
              </a:ext>
            </a:extLst>
          </p:cNvPr>
          <p:cNvSpPr/>
          <p:nvPr/>
        </p:nvSpPr>
        <p:spPr>
          <a:xfrm>
            <a:off x="2202968" y="5838139"/>
            <a:ext cx="3556863" cy="666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음성으로 자유롭게 대화하는 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AI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동반자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외로움 해소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+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따뜻한 하루 함께하기</a:t>
            </a:r>
          </a:p>
          <a:p>
            <a:pPr>
              <a:lnSpc>
                <a:spcPct val="140000"/>
              </a:lnSpc>
            </a:pPr>
            <a:endParaRPr lang="ko-KR" altLang="en-US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endParaRPr lang="en-US" altLang="ko-KR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0AA684C2-4101-99A9-BC47-7B1B005165E3}"/>
              </a:ext>
            </a:extLst>
          </p:cNvPr>
          <p:cNvSpPr/>
          <p:nvPr/>
        </p:nvSpPr>
        <p:spPr>
          <a:xfrm>
            <a:off x="12728131" y="5123291"/>
            <a:ext cx="602086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b="1" kern="0" spc="68" dirty="0">
                <a:solidFill>
                  <a:srgbClr val="1C48CD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05</a:t>
            </a:r>
            <a:endParaRPr lang="en-US" altLang="ko-KR" dirty="0">
              <a:solidFill>
                <a:srgbClr val="1C48CD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EF6A3DE2-A27E-EC3F-70C0-9E327B910AD3}"/>
              </a:ext>
            </a:extLst>
          </p:cNvPr>
          <p:cNvSpPr/>
          <p:nvPr/>
        </p:nvSpPr>
        <p:spPr>
          <a:xfrm>
            <a:off x="12728131" y="5431766"/>
            <a:ext cx="1599312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의료 </a:t>
            </a:r>
            <a:r>
              <a:rPr lang="ko-KR" altLang="en-US" dirty="0" err="1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챗봇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30BD7DE9-E856-0CCB-80C3-5054FD34FE05}"/>
              </a:ext>
            </a:extLst>
          </p:cNvPr>
          <p:cNvSpPr/>
          <p:nvPr/>
        </p:nvSpPr>
        <p:spPr>
          <a:xfrm>
            <a:off x="12728131" y="5851807"/>
            <a:ext cx="3556863" cy="39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의료 관련 궁금증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24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시간 즉시 답변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endParaRPr lang="ko-KR" altLang="en-US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</p:txBody>
      </p:sp>
      <p:sp>
        <p:nvSpPr>
          <p:cNvPr id="100" name="Text 7">
            <a:extLst>
              <a:ext uri="{FF2B5EF4-FFF2-40B4-BE49-F238E27FC236}">
                <a16:creationId xmlns:a16="http://schemas.microsoft.com/office/drawing/2014/main" id="{045FB8BD-46C7-04B5-E13B-487DA085FD6F}"/>
              </a:ext>
            </a:extLst>
          </p:cNvPr>
          <p:cNvSpPr/>
          <p:nvPr/>
        </p:nvSpPr>
        <p:spPr>
          <a:xfrm>
            <a:off x="12726105" y="7098805"/>
            <a:ext cx="602086" cy="30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b="1" kern="0" spc="68" dirty="0">
                <a:solidFill>
                  <a:srgbClr val="1C48CD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06</a:t>
            </a:r>
            <a:endParaRPr lang="en-US" altLang="ko-KR" dirty="0">
              <a:solidFill>
                <a:srgbClr val="1C48CD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101" name="Text 8">
            <a:extLst>
              <a:ext uri="{FF2B5EF4-FFF2-40B4-BE49-F238E27FC236}">
                <a16:creationId xmlns:a16="http://schemas.microsoft.com/office/drawing/2014/main" id="{2D6C1DB6-6752-E0B5-AF62-875C044DD10B}"/>
              </a:ext>
            </a:extLst>
          </p:cNvPr>
          <p:cNvSpPr/>
          <p:nvPr/>
        </p:nvSpPr>
        <p:spPr>
          <a:xfrm>
            <a:off x="12726105" y="7407280"/>
            <a:ext cx="1221581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병원 예약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102" name="Text 11">
            <a:extLst>
              <a:ext uri="{FF2B5EF4-FFF2-40B4-BE49-F238E27FC236}">
                <a16:creationId xmlns:a16="http://schemas.microsoft.com/office/drawing/2014/main" id="{25612A17-B905-D339-96CA-46CAD94DC5D9}"/>
              </a:ext>
            </a:extLst>
          </p:cNvPr>
          <p:cNvSpPr/>
          <p:nvPr/>
        </p:nvSpPr>
        <p:spPr>
          <a:xfrm>
            <a:off x="12726105" y="7763432"/>
            <a:ext cx="3556863" cy="666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주변 병원 검색 및 간편 예약 원스톱 처리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복약 알림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·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진료 일정 자동 관리</a:t>
            </a:r>
          </a:p>
          <a:p>
            <a:pPr>
              <a:lnSpc>
                <a:spcPct val="140000"/>
              </a:lnSpc>
            </a:pPr>
            <a:endParaRPr lang="ko-KR" altLang="en-US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</p:txBody>
      </p:sp>
      <p:sp>
        <p:nvSpPr>
          <p:cNvPr id="105" name="Shape 5">
            <a:extLst>
              <a:ext uri="{FF2B5EF4-FFF2-40B4-BE49-F238E27FC236}">
                <a16:creationId xmlns:a16="http://schemas.microsoft.com/office/drawing/2014/main" id="{0705BE3F-535D-686A-FEF6-FDBC14CFF8FD}"/>
              </a:ext>
            </a:extLst>
          </p:cNvPr>
          <p:cNvSpPr/>
          <p:nvPr/>
        </p:nvSpPr>
        <p:spPr>
          <a:xfrm>
            <a:off x="6173409" y="3811674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23">
            <a:extLst>
              <a:ext uri="{FF2B5EF4-FFF2-40B4-BE49-F238E27FC236}">
                <a16:creationId xmlns:a16="http://schemas.microsoft.com/office/drawing/2014/main" id="{560BDCBF-0187-9723-34E7-9E5D55CB29B8}"/>
              </a:ext>
            </a:extLst>
          </p:cNvPr>
          <p:cNvSpPr/>
          <p:nvPr/>
        </p:nvSpPr>
        <p:spPr>
          <a:xfrm>
            <a:off x="6173409" y="7692511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36">
            <a:extLst>
              <a:ext uri="{FF2B5EF4-FFF2-40B4-BE49-F238E27FC236}">
                <a16:creationId xmlns:a16="http://schemas.microsoft.com/office/drawing/2014/main" id="{8D9FCFBF-E45B-1C4B-E050-C72C143A56EA}"/>
              </a:ext>
            </a:extLst>
          </p:cNvPr>
          <p:cNvSpPr/>
          <p:nvPr/>
        </p:nvSpPr>
        <p:spPr>
          <a:xfrm>
            <a:off x="6173409" y="5753100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45">
            <a:extLst>
              <a:ext uri="{FF2B5EF4-FFF2-40B4-BE49-F238E27FC236}">
                <a16:creationId xmlns:a16="http://schemas.microsoft.com/office/drawing/2014/main" id="{B0B59ED3-E620-311D-B764-66D138B736B3}"/>
              </a:ext>
            </a:extLst>
          </p:cNvPr>
          <p:cNvSpPr/>
          <p:nvPr/>
        </p:nvSpPr>
        <p:spPr>
          <a:xfrm>
            <a:off x="11499372" y="5726582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54">
            <a:extLst>
              <a:ext uri="{FF2B5EF4-FFF2-40B4-BE49-F238E27FC236}">
                <a16:creationId xmlns:a16="http://schemas.microsoft.com/office/drawing/2014/main" id="{3F048BE2-3568-1AED-A8F7-A43DB013FE2E}"/>
              </a:ext>
            </a:extLst>
          </p:cNvPr>
          <p:cNvSpPr/>
          <p:nvPr/>
        </p:nvSpPr>
        <p:spPr>
          <a:xfrm>
            <a:off x="11518149" y="7689280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9FF12FA-D4D1-0220-3622-D5C6146C4923}"/>
              </a:ext>
            </a:extLst>
          </p:cNvPr>
          <p:cNvSpPr txBox="1"/>
          <p:nvPr/>
        </p:nvSpPr>
        <p:spPr>
          <a:xfrm>
            <a:off x="7641092" y="5398369"/>
            <a:ext cx="2624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err="1">
                <a:solidFill>
                  <a:prstClr val="white"/>
                </a:solidFill>
                <a:latin typeface="윤고딕 Bold" panose="020B0600000101010101" charset="-127"/>
                <a:ea typeface="윤고딕 Bold" panose="020B0600000101010101" charset="-127"/>
              </a:rPr>
              <a:t>CareAI</a:t>
            </a:r>
            <a:endParaRPr lang="ko-KR" altLang="en-US" sz="4800" dirty="0">
              <a:solidFill>
                <a:prstClr val="white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cxnSp>
        <p:nvCxnSpPr>
          <p:cNvPr id="111" name="구부러진 연결선 12">
            <a:extLst>
              <a:ext uri="{FF2B5EF4-FFF2-40B4-BE49-F238E27FC236}">
                <a16:creationId xmlns:a16="http://schemas.microsoft.com/office/drawing/2014/main" id="{9BFF299A-D5F2-FEB2-EE11-70B1203579CC}"/>
              </a:ext>
            </a:extLst>
          </p:cNvPr>
          <p:cNvCxnSpPr>
            <a:stCxn id="43" idx="1"/>
            <a:endCxn id="30" idx="7"/>
          </p:cNvCxnSpPr>
          <p:nvPr/>
        </p:nvCxnSpPr>
        <p:spPr>
          <a:xfrm rot="10800000" flipV="1">
            <a:off x="10201741" y="3866375"/>
            <a:ext cx="1364580" cy="717123"/>
          </a:xfrm>
          <a:prstGeom prst="curved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hape 14">
            <a:extLst>
              <a:ext uri="{FF2B5EF4-FFF2-40B4-BE49-F238E27FC236}">
                <a16:creationId xmlns:a16="http://schemas.microsoft.com/office/drawing/2014/main" id="{75C43D49-C959-FF43-566F-88F1A59CF91A}"/>
              </a:ext>
            </a:extLst>
          </p:cNvPr>
          <p:cNvSpPr/>
          <p:nvPr/>
        </p:nvSpPr>
        <p:spPr>
          <a:xfrm>
            <a:off x="11518149" y="3794964"/>
            <a:ext cx="133898" cy="133898"/>
          </a:xfrm>
          <a:prstGeom prst="ellipse">
            <a:avLst/>
          </a:prstGeom>
          <a:solidFill>
            <a:schemeClr val="accent1"/>
          </a:solidFill>
          <a:ln/>
          <a:effectLst>
            <a:outerShdw blurRad="101600" dist="508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28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3C384-34F1-4EC2-BCB9-9D04B077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0866DD-5DD3-9DDE-1F6F-0B3DC0388311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805DD6-732A-1614-C676-432C96C5D3B9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59C1584-27B2-8A11-02A0-CA539CFDB88F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F634977-A080-B2A5-E899-B58328ABF38B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2732837-E920-4FDE-CC10-668DA5C9A72D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en-US" altLang="ko-KR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1</a:t>
            </a: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학기때까지 구현된 기능</a:t>
            </a:r>
          </a:p>
        </p:txBody>
      </p:sp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253C7456-F49A-A9BB-079D-85746F4835C3}"/>
              </a:ext>
            </a:extLst>
          </p:cNvPr>
          <p:cNvSpPr/>
          <p:nvPr/>
        </p:nvSpPr>
        <p:spPr>
          <a:xfrm>
            <a:off x="5059680" y="2647658"/>
            <a:ext cx="7772400" cy="685800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31750">
            <a:solidFill>
              <a:srgbClr val="B39D6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05ACBC8F-A712-F3DC-9D98-7FBA2B49132C}"/>
              </a:ext>
            </a:extLst>
          </p:cNvPr>
          <p:cNvSpPr/>
          <p:nvPr/>
        </p:nvSpPr>
        <p:spPr>
          <a:xfrm>
            <a:off x="5029200" y="2576239"/>
            <a:ext cx="7812000" cy="1473388"/>
          </a:xfrm>
          <a:prstGeom prst="roundRect">
            <a:avLst>
              <a:gd name="adj" fmla="val 9046"/>
            </a:avLst>
          </a:prstGeom>
          <a:solidFill>
            <a:srgbClr val="B39D62"/>
          </a:solidFill>
          <a:ln>
            <a:solidFill>
              <a:srgbClr val="B39D6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ED57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710E0-E1FA-84EB-C276-95B0F486AE12}"/>
              </a:ext>
            </a:extLst>
          </p:cNvPr>
          <p:cNvSpPr txBox="1"/>
          <p:nvPr/>
        </p:nvSpPr>
        <p:spPr>
          <a:xfrm>
            <a:off x="5663922" y="2911730"/>
            <a:ext cx="5943600" cy="502055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1</a:t>
            </a:r>
            <a:r>
              <a:rPr lang="ko-KR" alt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학기 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(3</a:t>
            </a:r>
            <a:r>
              <a:rPr lang="ko-KR" altLang="en-US" sz="3000" b="1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월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~6</a:t>
            </a:r>
            <a:r>
              <a:rPr lang="ko-KR" altLang="en-US" sz="3000" b="1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월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)</a:t>
            </a:r>
            <a:r>
              <a:rPr 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 </a:t>
            </a:r>
            <a:endParaRPr sz="3000" b="1" dirty="0">
              <a:solidFill>
                <a:srgbClr val="FFFFFF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91A7B-3397-707C-B22B-F895B3D4C4AE}"/>
              </a:ext>
            </a:extLst>
          </p:cNvPr>
          <p:cNvSpPr txBox="1"/>
          <p:nvPr/>
        </p:nvSpPr>
        <p:spPr>
          <a:xfrm>
            <a:off x="5663922" y="3508923"/>
            <a:ext cx="6400800" cy="31739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전반적인 설계와 기반 구축</a:t>
            </a:r>
            <a:endParaRPr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27F069-BEDC-1705-2468-1AE9E3CB81EE}"/>
              </a:ext>
            </a:extLst>
          </p:cNvPr>
          <p:cNvSpPr/>
          <p:nvPr/>
        </p:nvSpPr>
        <p:spPr>
          <a:xfrm>
            <a:off x="5391150" y="4368752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8CDB2-6838-6BBD-A93E-4AE089F8FF75}"/>
              </a:ext>
            </a:extLst>
          </p:cNvPr>
          <p:cNvSpPr txBox="1"/>
          <p:nvPr/>
        </p:nvSpPr>
        <p:spPr>
          <a:xfrm>
            <a:off x="6244427" y="5545294"/>
            <a:ext cx="1740455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기획 </a:t>
            </a:r>
            <a:r>
              <a:rPr lang="en-US" altLang="ko-KR" sz="2000" b="1" dirty="0">
                <a:latin typeface="윤고딕" panose="020B0600000101010101" charset="-127"/>
                <a:ea typeface="윤고딕" panose="020B0600000101010101" charset="-127"/>
              </a:rPr>
              <a:t>/ </a:t>
            </a:r>
            <a:r>
              <a:rPr lang="en" altLang="ko-KR" sz="2000" b="1" dirty="0">
                <a:latin typeface="윤고딕" panose="020B0600000101010101" charset="-127"/>
                <a:ea typeface="윤고딕" panose="020B0600000101010101" charset="-127"/>
              </a:rPr>
              <a:t>UI </a:t>
            </a:r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설계</a:t>
            </a:r>
            <a:endParaRPr b="1" dirty="0">
              <a:solidFill>
                <a:schemeClr val="tx1">
                  <a:lumMod val="50000"/>
                  <a:lumOff val="50000"/>
                </a:schemeClr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71879B-4A67-1994-51E1-76C2EA722C14}"/>
              </a:ext>
            </a:extLst>
          </p:cNvPr>
          <p:cNvSpPr txBox="1"/>
          <p:nvPr/>
        </p:nvSpPr>
        <p:spPr>
          <a:xfrm>
            <a:off x="5786299" y="5995534"/>
            <a:ext cx="2656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서비스 기획 및 화면 설계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7C319A3-B1DD-84C7-699C-01CE3657E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873" y="4573998"/>
            <a:ext cx="817566" cy="74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DF6433A-C96D-9A22-3D1B-1AA9A9C8DDF6}"/>
              </a:ext>
            </a:extLst>
          </p:cNvPr>
          <p:cNvSpPr/>
          <p:nvPr/>
        </p:nvSpPr>
        <p:spPr>
          <a:xfrm>
            <a:off x="9044479" y="4368752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AB0D3E-52CF-04F8-363E-BE2ABB9E48B3}"/>
              </a:ext>
            </a:extLst>
          </p:cNvPr>
          <p:cNvSpPr txBox="1"/>
          <p:nvPr/>
        </p:nvSpPr>
        <p:spPr>
          <a:xfrm>
            <a:off x="9669701" y="5570967"/>
            <a:ext cx="2196569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회원가입 </a:t>
            </a:r>
            <a:r>
              <a:rPr lang="en-US" altLang="ko-KR" sz="2000" b="1" dirty="0">
                <a:latin typeface="윤고딕" panose="020B0600000101010101" charset="-127"/>
                <a:ea typeface="윤고딕" panose="020B0600000101010101" charset="-127"/>
              </a:rPr>
              <a:t>/ </a:t>
            </a:r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로그인 </a:t>
            </a:r>
            <a:endParaRPr b="1" dirty="0">
              <a:solidFill>
                <a:schemeClr val="tx1">
                  <a:lumMod val="50000"/>
                  <a:lumOff val="50000"/>
                </a:schemeClr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5D2610-0CFA-D743-C303-C5A600D81F00}"/>
              </a:ext>
            </a:extLst>
          </p:cNvPr>
          <p:cNvSpPr txBox="1"/>
          <p:nvPr/>
        </p:nvSpPr>
        <p:spPr>
          <a:xfrm>
            <a:off x="9313339" y="5995534"/>
            <a:ext cx="2909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인증 시스템 구축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32" name="Picture 4">
            <a:extLst>
              <a:ext uri="{FF2B5EF4-FFF2-40B4-BE49-F238E27FC236}">
                <a16:creationId xmlns:a16="http://schemas.microsoft.com/office/drawing/2014/main" id="{3B317BC2-CDF2-E420-5A4F-35ED3F843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16"/>
          <a:stretch>
            <a:fillRect/>
          </a:stretch>
        </p:blipFill>
        <p:spPr bwMode="auto">
          <a:xfrm>
            <a:off x="10336802" y="4605631"/>
            <a:ext cx="862366" cy="72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DF75850-2227-BFF7-BCE1-454230374559}"/>
              </a:ext>
            </a:extLst>
          </p:cNvPr>
          <p:cNvSpPr/>
          <p:nvPr/>
        </p:nvSpPr>
        <p:spPr>
          <a:xfrm>
            <a:off x="5391150" y="6804986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037223-4A08-D60A-93A1-ED3E9C4B3DF2}"/>
              </a:ext>
            </a:extLst>
          </p:cNvPr>
          <p:cNvSpPr txBox="1"/>
          <p:nvPr/>
        </p:nvSpPr>
        <p:spPr>
          <a:xfrm>
            <a:off x="5922177" y="8007200"/>
            <a:ext cx="2384959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위험 감지 모델 학습</a:t>
            </a:r>
            <a:r>
              <a:rPr lang="en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04BF2C-6EA4-D1AE-C726-77F76B764F1E}"/>
              </a:ext>
            </a:extLst>
          </p:cNvPr>
          <p:cNvSpPr txBox="1"/>
          <p:nvPr/>
        </p:nvSpPr>
        <p:spPr>
          <a:xfrm>
            <a:off x="5660010" y="8431768"/>
            <a:ext cx="2909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낙상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·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화재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·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흉기 감지 모델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46" name="Picture 6">
            <a:extLst>
              <a:ext uri="{FF2B5EF4-FFF2-40B4-BE49-F238E27FC236}">
                <a16:creationId xmlns:a16="http://schemas.microsoft.com/office/drawing/2014/main" id="{4F02AD79-1808-0908-6749-04DAE8178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466" y="7083102"/>
            <a:ext cx="1096409" cy="6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3828652-F1F9-DDCB-71CD-BCCB4E5BFB15}"/>
              </a:ext>
            </a:extLst>
          </p:cNvPr>
          <p:cNvSpPr/>
          <p:nvPr/>
        </p:nvSpPr>
        <p:spPr>
          <a:xfrm>
            <a:off x="9044479" y="6804986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8F4A9D-FD91-605C-5C5D-BF3406836B46}"/>
              </a:ext>
            </a:extLst>
          </p:cNvPr>
          <p:cNvSpPr txBox="1"/>
          <p:nvPr/>
        </p:nvSpPr>
        <p:spPr>
          <a:xfrm>
            <a:off x="9743222" y="8007199"/>
            <a:ext cx="2049526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보호자 알림 연동</a:t>
            </a:r>
            <a:endParaRPr b="1" dirty="0">
              <a:solidFill>
                <a:schemeClr val="tx1">
                  <a:lumMod val="50000"/>
                  <a:lumOff val="50000"/>
                </a:schemeClr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056F7A-BD55-0D17-B855-169948FEF58E}"/>
              </a:ext>
            </a:extLst>
          </p:cNvPr>
          <p:cNvSpPr txBox="1"/>
          <p:nvPr/>
        </p:nvSpPr>
        <p:spPr>
          <a:xfrm>
            <a:off x="9427715" y="8431768"/>
            <a:ext cx="2680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위험 감지 시 실시간 알림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64" name="Picture 8">
            <a:extLst>
              <a:ext uri="{FF2B5EF4-FFF2-40B4-BE49-F238E27FC236}">
                <a16:creationId xmlns:a16="http://schemas.microsoft.com/office/drawing/2014/main" id="{15DB0BB8-478E-4D63-406C-DD2ADB028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827" y="7083102"/>
            <a:ext cx="742316" cy="70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6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96A12-B212-7B65-6C2F-0F4A2C63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AB143B-90FA-F922-94B1-D1CE418C73D4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D57D12-1E3E-975B-7944-D3C4FDAAEAF9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9AB6236-9EED-C551-2210-B3320D67A0CB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2E1CEE4-7AEC-DE3F-3AA2-C9915BEFD7C3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BDAFF82-5AB0-83D4-F003-943297E5D0FE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 err="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방학때</a:t>
            </a: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구현된 기능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793ABA-3790-D8B5-2B9B-D5F5B5C5C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923839"/>
              </p:ext>
            </p:extLst>
          </p:nvPr>
        </p:nvGraphicFramePr>
        <p:xfrm>
          <a:off x="1028700" y="3081491"/>
          <a:ext cx="16116300" cy="5905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98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개발 일정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3</a:t>
                      </a:r>
                      <a:r>
                        <a:rPr lang="en-US" altLang="ko-KR" baseline="0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4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5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6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7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8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9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10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11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12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월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기획 </a:t>
                      </a:r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/ </a:t>
                      </a:r>
                      <a:r>
                        <a:rPr lang="en-US" altLang="ko-KR" sz="1400" baseline="0" dirty="0">
                          <a:latin typeface="윤고딕" panose="020B0600000101010101" charset="-127"/>
                          <a:ea typeface="윤고딕" panose="020B0600000101010101" charset="-127"/>
                        </a:rPr>
                        <a:t>UI·UX </a:t>
                      </a:r>
                      <a:r>
                        <a:rPr lang="ko-KR" altLang="en-US" sz="1400" baseline="0" dirty="0">
                          <a:latin typeface="윤고딕" panose="020B0600000101010101" charset="-127"/>
                          <a:ea typeface="윤고딕" panose="020B0600000101010101" charset="-127"/>
                        </a:rPr>
                        <a:t>설계 </a:t>
                      </a:r>
                      <a:r>
                        <a:rPr lang="en-US" altLang="ko-KR" sz="1400" baseline="0" dirty="0">
                          <a:latin typeface="윤고딕" panose="020B0600000101010101" charset="-127"/>
                          <a:ea typeface="윤고딕" panose="020B0600000101010101" charset="-127"/>
                        </a:rPr>
                        <a:t>/ </a:t>
                      </a:r>
                      <a:r>
                        <a:rPr lang="ko-KR" altLang="en-US" sz="1400" baseline="0" dirty="0">
                          <a:latin typeface="윤고딕" panose="020B0600000101010101" charset="-127"/>
                          <a:ea typeface="윤고딕" panose="020B0600000101010101" charset="-127"/>
                        </a:rPr>
                        <a:t>인프라</a:t>
                      </a:r>
                      <a:endParaRPr lang="ko-KR" altLang="en-US" sz="1400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11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윤고딕" panose="020B0600000101010101" charset="-127"/>
                          <a:ea typeface="윤고딕" panose="020B0600000101010101" charset="-127"/>
                        </a:rPr>
                        <a:t>방학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인증 시스템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AI </a:t>
                      </a:r>
                      <a:r>
                        <a:rPr lang="ko-KR" altLang="en-US" sz="1400">
                          <a:latin typeface="윤고딕" panose="020B0600000101010101" charset="-127"/>
                          <a:ea typeface="윤고딕" panose="020B0600000101010101" charset="-127"/>
                        </a:rPr>
                        <a:t>이상 감지 개발</a:t>
                      </a:r>
                      <a:endParaRPr lang="ko-KR" altLang="en-US" sz="1400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관리자 </a:t>
                      </a:r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/ </a:t>
                      </a:r>
                      <a:r>
                        <a:rPr lang="ko-KR" altLang="en-US" sz="1400">
                          <a:latin typeface="윤고딕" panose="020B0600000101010101" charset="-127"/>
                          <a:ea typeface="윤고딕" panose="020B0600000101010101" charset="-127"/>
                        </a:rPr>
                        <a:t>사용자 인터페이스 개발</a:t>
                      </a:r>
                      <a:endParaRPr lang="ko-KR" altLang="en-US" sz="1400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보호자 알림 및 외부 서비스 연동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AI </a:t>
                      </a:r>
                      <a:r>
                        <a:rPr lang="ko-KR" altLang="en-US" sz="1400">
                          <a:latin typeface="윤고딕" panose="020B0600000101010101" charset="-127"/>
                          <a:ea typeface="윤고딕" panose="020B0600000101010101" charset="-127"/>
                        </a:rPr>
                        <a:t>의료 챗봇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병원 예약 시스템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AI </a:t>
                      </a:r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감정 분석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AI </a:t>
                      </a:r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말벗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치매 예방 게임 개발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통합 테스트 </a:t>
                      </a:r>
                      <a:r>
                        <a:rPr lang="en-US" altLang="ko-KR" sz="1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/ </a:t>
                      </a:r>
                      <a:r>
                        <a:rPr lang="ko-KR" altLang="en-US" sz="1400">
                          <a:latin typeface="윤고딕" panose="020B0600000101010101" charset="-127"/>
                          <a:ea typeface="윤고딕" panose="020B0600000101010101" charset="-127"/>
                        </a:rPr>
                        <a:t>배포</a:t>
                      </a:r>
                      <a:endParaRPr lang="ko-KR" altLang="en-US" sz="1400" dirty="0"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LegSq200">
            <a:extLst>
              <a:ext uri="{FF2B5EF4-FFF2-40B4-BE49-F238E27FC236}">
                <a16:creationId xmlns:a16="http://schemas.microsoft.com/office/drawing/2014/main" id="{6EE97ABE-1812-CE8B-651F-BF48892AA3B1}"/>
              </a:ext>
            </a:extLst>
          </p:cNvPr>
          <p:cNvSpPr>
            <a:spLocks noGrp="1"/>
          </p:cNvSpPr>
          <p:nvPr/>
        </p:nvSpPr>
        <p:spPr>
          <a:xfrm>
            <a:off x="1056262" y="2735979"/>
            <a:ext cx="173736" cy="1737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LegTxt201">
            <a:extLst>
              <a:ext uri="{FF2B5EF4-FFF2-40B4-BE49-F238E27FC236}">
                <a16:creationId xmlns:a16="http://schemas.microsoft.com/office/drawing/2014/main" id="{50A4D06D-F090-19ED-CAA6-7FD9D055B896}"/>
              </a:ext>
            </a:extLst>
          </p:cNvPr>
          <p:cNvSpPr>
            <a:spLocks noGrp="1"/>
          </p:cNvSpPr>
          <p:nvPr/>
        </p:nvSpPr>
        <p:spPr>
          <a:xfrm>
            <a:off x="1229998" y="271653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lIns="45720" tIns="30000" rIns="45720" bIns="30000" anchor="ctr"/>
          <a:lstStyle/>
          <a:p>
            <a:pPr algn="l"/>
            <a:r>
              <a:rPr lang="ko-KR" sz="1200" dirty="0">
                <a:solidFill>
                  <a:srgbClr val="444441"/>
                </a:solidFill>
                <a:latin typeface="윤고딕 Bold" panose="020B0600000101010101" charset="-127"/>
                <a:ea typeface="윤고딕 Bold" panose="020B0600000101010101" charset="-127"/>
              </a:rPr>
              <a:t>기획 / Infra</a:t>
            </a:r>
          </a:p>
        </p:txBody>
      </p:sp>
      <p:sp>
        <p:nvSpPr>
          <p:cNvPr id="11" name="LegSq202">
            <a:extLst>
              <a:ext uri="{FF2B5EF4-FFF2-40B4-BE49-F238E27FC236}">
                <a16:creationId xmlns:a16="http://schemas.microsoft.com/office/drawing/2014/main" id="{4CD0B694-E7D4-F3EC-A2B5-A0F3D8C89CF6}"/>
              </a:ext>
            </a:extLst>
          </p:cNvPr>
          <p:cNvSpPr>
            <a:spLocks noGrp="1"/>
          </p:cNvSpPr>
          <p:nvPr/>
        </p:nvSpPr>
        <p:spPr>
          <a:xfrm>
            <a:off x="2487010" y="2735979"/>
            <a:ext cx="173736" cy="173736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LegTxt203">
            <a:extLst>
              <a:ext uri="{FF2B5EF4-FFF2-40B4-BE49-F238E27FC236}">
                <a16:creationId xmlns:a16="http://schemas.microsoft.com/office/drawing/2014/main" id="{96F06EDF-E614-F9DB-875D-76CE0A595A6C}"/>
              </a:ext>
            </a:extLst>
          </p:cNvPr>
          <p:cNvSpPr>
            <a:spLocks noGrp="1"/>
          </p:cNvSpPr>
          <p:nvPr/>
        </p:nvSpPr>
        <p:spPr>
          <a:xfrm>
            <a:off x="2652178" y="271653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lIns="45720" tIns="30000" rIns="45720" bIns="30000" anchor="ctr"/>
          <a:lstStyle/>
          <a:p>
            <a:pPr algn="l"/>
            <a:r>
              <a:rPr lang="ko-KR" sz="1200" dirty="0">
                <a:solidFill>
                  <a:srgbClr val="444441"/>
                </a:solidFill>
                <a:latin typeface="윤고딕 Bold" panose="020B0600000101010101" charset="-127"/>
                <a:ea typeface="윤고딕 Bold" panose="020B0600000101010101" charset="-127"/>
              </a:rPr>
              <a:t>Backend</a:t>
            </a:r>
          </a:p>
        </p:txBody>
      </p:sp>
      <p:sp>
        <p:nvSpPr>
          <p:cNvPr id="15" name="LegSq204">
            <a:extLst>
              <a:ext uri="{FF2B5EF4-FFF2-40B4-BE49-F238E27FC236}">
                <a16:creationId xmlns:a16="http://schemas.microsoft.com/office/drawing/2014/main" id="{A746D369-37BD-46C9-0475-B2D15EB04EF7}"/>
              </a:ext>
            </a:extLst>
          </p:cNvPr>
          <p:cNvSpPr>
            <a:spLocks noGrp="1"/>
          </p:cNvSpPr>
          <p:nvPr/>
        </p:nvSpPr>
        <p:spPr>
          <a:xfrm>
            <a:off x="4766536" y="2733046"/>
            <a:ext cx="173736" cy="1737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LegTxt205">
            <a:extLst>
              <a:ext uri="{FF2B5EF4-FFF2-40B4-BE49-F238E27FC236}">
                <a16:creationId xmlns:a16="http://schemas.microsoft.com/office/drawing/2014/main" id="{2BAB9FC3-1FC2-5BC4-E674-925E221ABB05}"/>
              </a:ext>
            </a:extLst>
          </p:cNvPr>
          <p:cNvSpPr>
            <a:spLocks noGrp="1"/>
          </p:cNvSpPr>
          <p:nvPr/>
        </p:nvSpPr>
        <p:spPr>
          <a:xfrm>
            <a:off x="4051210" y="2709358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lIns="45720" tIns="30000" rIns="45720" bIns="30000" anchor="ctr"/>
          <a:lstStyle/>
          <a:p>
            <a:pPr algn="l"/>
            <a:r>
              <a:rPr lang="ko-KR" sz="1200" dirty="0">
                <a:solidFill>
                  <a:srgbClr val="444441"/>
                </a:solidFill>
                <a:latin typeface="윤고딕 Bold" panose="020B0600000101010101" charset="-127"/>
                <a:ea typeface="윤고딕 Bold" panose="020B0600000101010101" charset="-127"/>
              </a:rPr>
              <a:t>AI</a:t>
            </a:r>
          </a:p>
        </p:txBody>
      </p:sp>
      <p:sp>
        <p:nvSpPr>
          <p:cNvPr id="21" name="LegSq206">
            <a:extLst>
              <a:ext uri="{FF2B5EF4-FFF2-40B4-BE49-F238E27FC236}">
                <a16:creationId xmlns:a16="http://schemas.microsoft.com/office/drawing/2014/main" id="{BCD9BCCF-ADDA-87DE-EB0F-3B54D2655DF7}"/>
              </a:ext>
            </a:extLst>
          </p:cNvPr>
          <p:cNvSpPr>
            <a:spLocks noGrp="1"/>
          </p:cNvSpPr>
          <p:nvPr/>
        </p:nvSpPr>
        <p:spPr>
          <a:xfrm>
            <a:off x="3881758" y="2735979"/>
            <a:ext cx="173736" cy="17373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LegTxt207">
            <a:extLst>
              <a:ext uri="{FF2B5EF4-FFF2-40B4-BE49-F238E27FC236}">
                <a16:creationId xmlns:a16="http://schemas.microsoft.com/office/drawing/2014/main" id="{CF45238E-37F0-9FB6-6150-373C5A523F4C}"/>
              </a:ext>
            </a:extLst>
          </p:cNvPr>
          <p:cNvSpPr>
            <a:spLocks noGrp="1"/>
          </p:cNvSpPr>
          <p:nvPr/>
        </p:nvSpPr>
        <p:spPr>
          <a:xfrm>
            <a:off x="4941226" y="270510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lIns="45720" tIns="30000" rIns="45720" bIns="30000" anchor="ctr"/>
          <a:lstStyle/>
          <a:p>
            <a:pPr algn="l"/>
            <a:r>
              <a:rPr lang="ko-KR" sz="1200" dirty="0">
                <a:solidFill>
                  <a:srgbClr val="444441"/>
                </a:solidFill>
                <a:latin typeface="윤고딕 Bold" panose="020B0600000101010101" charset="-127"/>
                <a:ea typeface="윤고딕 Bold" panose="020B0600000101010101" charset="-127"/>
              </a:rPr>
              <a:t>Frontend</a:t>
            </a:r>
          </a:p>
        </p:txBody>
      </p:sp>
      <p:sp>
        <p:nvSpPr>
          <p:cNvPr id="25" name="LegSq208">
            <a:extLst>
              <a:ext uri="{FF2B5EF4-FFF2-40B4-BE49-F238E27FC236}">
                <a16:creationId xmlns:a16="http://schemas.microsoft.com/office/drawing/2014/main" id="{B8C246B3-EFE2-8F2A-A617-61EFDFD7AB5A}"/>
              </a:ext>
            </a:extLst>
          </p:cNvPr>
          <p:cNvSpPr>
            <a:spLocks noGrp="1"/>
          </p:cNvSpPr>
          <p:nvPr/>
        </p:nvSpPr>
        <p:spPr>
          <a:xfrm>
            <a:off x="6150864" y="2741676"/>
            <a:ext cx="173736" cy="1737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LegTxt209">
            <a:extLst>
              <a:ext uri="{FF2B5EF4-FFF2-40B4-BE49-F238E27FC236}">
                <a16:creationId xmlns:a16="http://schemas.microsoft.com/office/drawing/2014/main" id="{43CABB1A-64BB-721E-7143-D051C843FD96}"/>
              </a:ext>
            </a:extLst>
          </p:cNvPr>
          <p:cNvSpPr>
            <a:spLocks noGrp="1"/>
          </p:cNvSpPr>
          <p:nvPr/>
        </p:nvSpPr>
        <p:spPr>
          <a:xfrm>
            <a:off x="6324600" y="2705100"/>
            <a:ext cx="1005840" cy="246888"/>
          </a:xfrm>
          <a:prstGeom prst="rect">
            <a:avLst/>
          </a:prstGeom>
          <a:noFill/>
          <a:ln>
            <a:noFill/>
          </a:ln>
        </p:spPr>
        <p:txBody>
          <a:bodyPr lIns="45720" tIns="30000" rIns="45720" bIns="30000" anchor="ctr"/>
          <a:lstStyle/>
          <a:p>
            <a:pPr algn="l"/>
            <a:r>
              <a:rPr lang="ko-KR" sz="1200" dirty="0">
                <a:solidFill>
                  <a:srgbClr val="444441"/>
                </a:solidFill>
                <a:latin typeface="윤고딕 Bold" panose="020B0600000101010101" charset="-127"/>
                <a:ea typeface="윤고딕 Bold" panose="020B0600000101010101" charset="-127"/>
              </a:rPr>
              <a:t>QA / 배포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0AB2DF9-44ED-CFF7-A903-84EAE6416736}"/>
              </a:ext>
            </a:extLst>
          </p:cNvPr>
          <p:cNvSpPr/>
          <p:nvPr/>
        </p:nvSpPr>
        <p:spPr>
          <a:xfrm>
            <a:off x="3886392" y="3563713"/>
            <a:ext cx="3886008" cy="263455"/>
          </a:xfrm>
          <a:prstGeom prst="roundRect">
            <a:avLst>
              <a:gd name="adj" fmla="val 23923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440F5CF6-330E-B492-584B-F44C76A6B795}"/>
              </a:ext>
            </a:extLst>
          </p:cNvPr>
          <p:cNvSpPr/>
          <p:nvPr/>
        </p:nvSpPr>
        <p:spPr>
          <a:xfrm>
            <a:off x="5188299" y="3950636"/>
            <a:ext cx="3911913" cy="198455"/>
          </a:xfrm>
          <a:prstGeom prst="roundRect">
            <a:avLst>
              <a:gd name="adj" fmla="val 23923"/>
            </a:avLst>
          </a:prstGeom>
          <a:solidFill>
            <a:srgbClr val="0F6E5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FB39759F-EF8C-2EA3-92C4-C839512CFB8C}"/>
              </a:ext>
            </a:extLst>
          </p:cNvPr>
          <p:cNvSpPr/>
          <p:nvPr/>
        </p:nvSpPr>
        <p:spPr>
          <a:xfrm>
            <a:off x="5181601" y="4567454"/>
            <a:ext cx="3918756" cy="198455"/>
          </a:xfrm>
          <a:prstGeom prst="roundRect">
            <a:avLst>
              <a:gd name="adj" fmla="val 23923"/>
            </a:avLst>
          </a:prstGeom>
          <a:solidFill>
            <a:srgbClr val="534AB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5446E225-F870-3687-AD77-3694077C66A5}"/>
              </a:ext>
            </a:extLst>
          </p:cNvPr>
          <p:cNvSpPr/>
          <p:nvPr/>
        </p:nvSpPr>
        <p:spPr>
          <a:xfrm>
            <a:off x="11887199" y="4978125"/>
            <a:ext cx="3880282" cy="223247"/>
          </a:xfrm>
          <a:prstGeom prst="roundRect">
            <a:avLst>
              <a:gd name="adj" fmla="val 23923"/>
            </a:avLst>
          </a:prstGeom>
          <a:solidFill>
            <a:srgbClr val="0F6E5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3383777C-A764-B27D-2568-93F473216882}"/>
              </a:ext>
            </a:extLst>
          </p:cNvPr>
          <p:cNvSpPr/>
          <p:nvPr/>
        </p:nvSpPr>
        <p:spPr>
          <a:xfrm>
            <a:off x="11887199" y="5246554"/>
            <a:ext cx="3880282" cy="223247"/>
          </a:xfrm>
          <a:prstGeom prst="roundRect">
            <a:avLst>
              <a:gd name="adj" fmla="val 2392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4F0A17C7-EAF3-8098-15A7-9A246D5646F7}"/>
              </a:ext>
            </a:extLst>
          </p:cNvPr>
          <p:cNvSpPr/>
          <p:nvPr/>
        </p:nvSpPr>
        <p:spPr>
          <a:xfrm>
            <a:off x="13188518" y="7257225"/>
            <a:ext cx="2578960" cy="289268"/>
          </a:xfrm>
          <a:prstGeom prst="roundRect">
            <a:avLst>
              <a:gd name="adj" fmla="val 23923"/>
            </a:avLst>
          </a:prstGeom>
          <a:solidFill>
            <a:srgbClr val="534AB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C14401B5-38D4-7EBE-BC16-48FC13F62878}"/>
              </a:ext>
            </a:extLst>
          </p:cNvPr>
          <p:cNvSpPr/>
          <p:nvPr/>
        </p:nvSpPr>
        <p:spPr>
          <a:xfrm>
            <a:off x="11887200" y="6611035"/>
            <a:ext cx="1219200" cy="223247"/>
          </a:xfrm>
          <a:prstGeom prst="roundRect">
            <a:avLst>
              <a:gd name="adj" fmla="val 23923"/>
            </a:avLst>
          </a:prstGeom>
          <a:solidFill>
            <a:srgbClr val="0F6E5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3A7C86D7-288B-90B5-AD79-800FB8E226B7}"/>
              </a:ext>
            </a:extLst>
          </p:cNvPr>
          <p:cNvSpPr/>
          <p:nvPr/>
        </p:nvSpPr>
        <p:spPr>
          <a:xfrm>
            <a:off x="5188299" y="4223010"/>
            <a:ext cx="3915806" cy="198455"/>
          </a:xfrm>
          <a:prstGeom prst="roundRect">
            <a:avLst>
              <a:gd name="adj" fmla="val 2392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6BB76D33-777E-A281-8BBA-59C6F96388AC}"/>
              </a:ext>
            </a:extLst>
          </p:cNvPr>
          <p:cNvSpPr/>
          <p:nvPr/>
        </p:nvSpPr>
        <p:spPr>
          <a:xfrm>
            <a:off x="13182600" y="7655901"/>
            <a:ext cx="2590800" cy="289268"/>
          </a:xfrm>
          <a:prstGeom prst="roundRect">
            <a:avLst>
              <a:gd name="adj" fmla="val 23923"/>
            </a:avLst>
          </a:prstGeom>
          <a:solidFill>
            <a:srgbClr val="534AB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E5879066-A79D-0BFD-D620-0311D74ECC1A}"/>
              </a:ext>
            </a:extLst>
          </p:cNvPr>
          <p:cNvSpPr/>
          <p:nvPr/>
        </p:nvSpPr>
        <p:spPr>
          <a:xfrm>
            <a:off x="7848600" y="8642094"/>
            <a:ext cx="1251612" cy="244828"/>
          </a:xfrm>
          <a:prstGeom prst="roundRect">
            <a:avLst>
              <a:gd name="adj" fmla="val 23923"/>
            </a:avLst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76381199-F518-C1D3-863F-D9CA0ECEA2F3}"/>
              </a:ext>
            </a:extLst>
          </p:cNvPr>
          <p:cNvSpPr/>
          <p:nvPr/>
        </p:nvSpPr>
        <p:spPr>
          <a:xfrm>
            <a:off x="15849600" y="8658218"/>
            <a:ext cx="1261872" cy="251946"/>
          </a:xfrm>
          <a:prstGeom prst="roundRect">
            <a:avLst>
              <a:gd name="adj" fmla="val 23923"/>
            </a:avLst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06D3516D-D057-5A23-4B17-042F7C0E2F48}"/>
              </a:ext>
            </a:extLst>
          </p:cNvPr>
          <p:cNvSpPr/>
          <p:nvPr/>
        </p:nvSpPr>
        <p:spPr>
          <a:xfrm>
            <a:off x="6547281" y="5570464"/>
            <a:ext cx="2552931" cy="208630"/>
          </a:xfrm>
          <a:prstGeom prst="roundRect">
            <a:avLst>
              <a:gd name="adj" fmla="val 23923"/>
            </a:avLst>
          </a:prstGeom>
          <a:solidFill>
            <a:srgbClr val="0F6E5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9D6FCD4B-0A2F-45FB-2161-AC6AD8BD3AEA}"/>
              </a:ext>
            </a:extLst>
          </p:cNvPr>
          <p:cNvSpPr/>
          <p:nvPr/>
        </p:nvSpPr>
        <p:spPr>
          <a:xfrm>
            <a:off x="6547281" y="5833167"/>
            <a:ext cx="2552931" cy="208630"/>
          </a:xfrm>
          <a:prstGeom prst="roundRect">
            <a:avLst>
              <a:gd name="adj" fmla="val 2392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AC7DEA44-6755-BE80-2751-3059AB35860C}"/>
              </a:ext>
            </a:extLst>
          </p:cNvPr>
          <p:cNvSpPr/>
          <p:nvPr/>
        </p:nvSpPr>
        <p:spPr>
          <a:xfrm>
            <a:off x="14554200" y="8053971"/>
            <a:ext cx="1213282" cy="223247"/>
          </a:xfrm>
          <a:prstGeom prst="roundRect">
            <a:avLst>
              <a:gd name="adj" fmla="val 23923"/>
            </a:avLst>
          </a:prstGeom>
          <a:solidFill>
            <a:srgbClr val="0F6E5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4AF4E490-62F4-EB55-BBB1-712F0338F8B1}"/>
              </a:ext>
            </a:extLst>
          </p:cNvPr>
          <p:cNvSpPr/>
          <p:nvPr/>
        </p:nvSpPr>
        <p:spPr>
          <a:xfrm>
            <a:off x="11887199" y="6894183"/>
            <a:ext cx="1219201" cy="223247"/>
          </a:xfrm>
          <a:prstGeom prst="roundRect">
            <a:avLst>
              <a:gd name="adj" fmla="val 2392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1F5EFEAA-5952-B037-78D3-D734448C2432}"/>
              </a:ext>
            </a:extLst>
          </p:cNvPr>
          <p:cNvSpPr/>
          <p:nvPr/>
        </p:nvSpPr>
        <p:spPr>
          <a:xfrm>
            <a:off x="14548280" y="8317044"/>
            <a:ext cx="1219201" cy="223247"/>
          </a:xfrm>
          <a:prstGeom prst="roundRect">
            <a:avLst>
              <a:gd name="adj" fmla="val 23923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화살표: 오각형 49">
            <a:extLst>
              <a:ext uri="{FF2B5EF4-FFF2-40B4-BE49-F238E27FC236}">
                <a16:creationId xmlns:a16="http://schemas.microsoft.com/office/drawing/2014/main" id="{51331F78-4FED-0E82-4D7E-129079CB4ED7}"/>
              </a:ext>
            </a:extLst>
          </p:cNvPr>
          <p:cNvSpPr/>
          <p:nvPr/>
        </p:nvSpPr>
        <p:spPr>
          <a:xfrm rot="5400000">
            <a:off x="7996102" y="3064395"/>
            <a:ext cx="314593" cy="303055"/>
          </a:xfrm>
          <a:prstGeom prst="homePlat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48DE66-FE90-5A46-347D-9838E3F13A47}"/>
              </a:ext>
            </a:extLst>
          </p:cNvPr>
          <p:cNvSpPr txBox="1"/>
          <p:nvPr/>
        </p:nvSpPr>
        <p:spPr>
          <a:xfrm>
            <a:off x="7951089" y="3056841"/>
            <a:ext cx="53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윤고딕 Bold" panose="020B0600000101010101" charset="-127"/>
                <a:ea typeface="윤고딕 Bold" panose="020B0600000101010101" charset="-127"/>
              </a:rPr>
              <a:t>현재</a:t>
            </a:r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F59719AF-FE42-20F5-8452-42DD212634C3}"/>
              </a:ext>
            </a:extLst>
          </p:cNvPr>
          <p:cNvSpPr/>
          <p:nvPr/>
        </p:nvSpPr>
        <p:spPr>
          <a:xfrm>
            <a:off x="6553201" y="6243878"/>
            <a:ext cx="2533650" cy="208630"/>
          </a:xfrm>
          <a:prstGeom prst="roundRect">
            <a:avLst>
              <a:gd name="adj" fmla="val 23923"/>
            </a:avLst>
          </a:prstGeom>
          <a:solidFill>
            <a:srgbClr val="534AB7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18EBC85-6C75-8A74-7E08-4ED2A20D8F1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8153398" y="3373219"/>
            <a:ext cx="2" cy="5585650"/>
          </a:xfrm>
          <a:prstGeom prst="line">
            <a:avLst/>
          </a:prstGeom>
          <a:ln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29FBB3D-7DEE-DC9D-2B86-7EC18A6B4C53}"/>
              </a:ext>
            </a:extLst>
          </p:cNvPr>
          <p:cNvSpPr/>
          <p:nvPr/>
        </p:nvSpPr>
        <p:spPr>
          <a:xfrm>
            <a:off x="9031978" y="2963418"/>
            <a:ext cx="2826590" cy="6023161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74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2079-F283-03B6-FC6D-601F68A3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7A84FA-93E3-89FC-A94D-D3B31A2CFB5C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64C6F4-9C2F-50CC-A382-977BBB62F278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522BD4-50EF-944D-8219-240AA1BDA5BA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D53B6FDB-7FD5-F1F7-457F-5A8613DB2A0E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D0C95BD-B453-1FB2-E69E-A41E7BE5C5BE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더 추가로 구현할 기능</a:t>
            </a:r>
          </a:p>
        </p:txBody>
      </p:sp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FA91622F-5B2A-FD82-257D-A31D83A3EBFD}"/>
              </a:ext>
            </a:extLst>
          </p:cNvPr>
          <p:cNvSpPr/>
          <p:nvPr/>
        </p:nvSpPr>
        <p:spPr>
          <a:xfrm>
            <a:off x="5059680" y="2647658"/>
            <a:ext cx="7772400" cy="6858000"/>
          </a:xfrm>
          <a:prstGeom prst="roundRect">
            <a:avLst>
              <a:gd name="adj" fmla="val 4000"/>
            </a:avLst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B93BF9FC-0A1A-9A41-2F40-2DCAF71D4530}"/>
              </a:ext>
            </a:extLst>
          </p:cNvPr>
          <p:cNvSpPr/>
          <p:nvPr/>
        </p:nvSpPr>
        <p:spPr>
          <a:xfrm>
            <a:off x="5029200" y="2576239"/>
            <a:ext cx="7812000" cy="1473388"/>
          </a:xfrm>
          <a:prstGeom prst="roundRect">
            <a:avLst>
              <a:gd name="adj" fmla="val 9046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ED57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86DD5-BE3A-D2D4-2357-5F7069DFD592}"/>
              </a:ext>
            </a:extLst>
          </p:cNvPr>
          <p:cNvSpPr txBox="1"/>
          <p:nvPr/>
        </p:nvSpPr>
        <p:spPr>
          <a:xfrm>
            <a:off x="5663922" y="2911730"/>
            <a:ext cx="5943600" cy="502055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l"/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2</a:t>
            </a:r>
            <a:r>
              <a:rPr lang="ko-KR" alt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학기 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(9</a:t>
            </a:r>
            <a:r>
              <a:rPr lang="ko-KR" alt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월 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~ 12</a:t>
            </a:r>
            <a:r>
              <a:rPr lang="ko-KR" altLang="en-US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월</a:t>
            </a:r>
            <a:r>
              <a:rPr lang="en-US" altLang="ko-KR" sz="3000" b="1" dirty="0">
                <a:solidFill>
                  <a:srgbClr val="FFFFFF"/>
                </a:solidFill>
                <a:latin typeface="윤고딕 Bold" panose="020B0600000101010101" charset="-127"/>
                <a:ea typeface="윤고딕 Bold" panose="020B0600000101010101" charset="-127"/>
              </a:rPr>
              <a:t>) </a:t>
            </a:r>
            <a:endParaRPr sz="3000" b="1" dirty="0">
              <a:solidFill>
                <a:srgbClr val="FFFFFF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FB4566-722E-2F3B-2836-77136CD10AFE}"/>
              </a:ext>
            </a:extLst>
          </p:cNvPr>
          <p:cNvSpPr txBox="1"/>
          <p:nvPr/>
        </p:nvSpPr>
        <p:spPr>
          <a:xfrm>
            <a:off x="5663922" y="3508923"/>
            <a:ext cx="6400800" cy="317390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윤고딕 Thin" panose="020B0600000101010101" charset="-127"/>
                <a:ea typeface="윤고딕 Thin" panose="020B0600000101010101" charset="-127"/>
              </a:rPr>
              <a:t>핵심 서비스 완성</a:t>
            </a:r>
            <a:endParaRPr dirty="0">
              <a:solidFill>
                <a:schemeClr val="bg1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2E61811-6701-4F4B-5053-C732807792ED}"/>
              </a:ext>
            </a:extLst>
          </p:cNvPr>
          <p:cNvSpPr/>
          <p:nvPr/>
        </p:nvSpPr>
        <p:spPr>
          <a:xfrm>
            <a:off x="5391150" y="4368752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415E7D-25D5-30C6-1AC9-E5EE3244D66A}"/>
              </a:ext>
            </a:extLst>
          </p:cNvPr>
          <p:cNvSpPr txBox="1"/>
          <p:nvPr/>
        </p:nvSpPr>
        <p:spPr>
          <a:xfrm>
            <a:off x="5521020" y="5542805"/>
            <a:ext cx="3187272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관리자</a:t>
            </a:r>
            <a:r>
              <a:rPr lang="en-US" altLang="ko-KR" sz="2000" b="1" dirty="0">
                <a:latin typeface="윤고딕" panose="020B0600000101010101" charset="-127"/>
                <a:ea typeface="윤고딕" panose="020B0600000101010101" charset="-127"/>
              </a:rPr>
              <a:t>/</a:t>
            </a:r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사용자 인터페이스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37AE4D-447D-74D1-0E31-98010CB8B264}"/>
              </a:ext>
            </a:extLst>
          </p:cNvPr>
          <p:cNvSpPr txBox="1"/>
          <p:nvPr/>
        </p:nvSpPr>
        <p:spPr>
          <a:xfrm>
            <a:off x="5556851" y="5995534"/>
            <a:ext cx="3115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피보호자 등록 및 상태 관리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94D6846-592A-7CC7-92BC-2DCFE2FB4C6F}"/>
              </a:ext>
            </a:extLst>
          </p:cNvPr>
          <p:cNvSpPr/>
          <p:nvPr/>
        </p:nvSpPr>
        <p:spPr>
          <a:xfrm>
            <a:off x="5391150" y="6804986"/>
            <a:ext cx="3447012" cy="21996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E9109-82F6-9005-1382-880ED887A08D}"/>
              </a:ext>
            </a:extLst>
          </p:cNvPr>
          <p:cNvSpPr txBox="1"/>
          <p:nvPr/>
        </p:nvSpPr>
        <p:spPr>
          <a:xfrm>
            <a:off x="5922177" y="8007200"/>
            <a:ext cx="2384959" cy="348167"/>
          </a:xfrm>
          <a:prstGeom prst="rect">
            <a:avLst/>
          </a:prstGeom>
          <a:noFill/>
        </p:spPr>
        <p:txBody>
          <a:bodyPr wrap="square" lIns="40000" tIns="20000" rIns="40000" bIns="20000" anchor="ctr">
            <a:spAutoFit/>
          </a:bodyPr>
          <a:lstStyle/>
          <a:p>
            <a:pPr algn="ctr"/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감정 분석 </a:t>
            </a:r>
            <a:r>
              <a:rPr lang="en-US" altLang="ko-KR" sz="2000" b="1" dirty="0">
                <a:latin typeface="윤고딕" panose="020B0600000101010101" charset="-127"/>
                <a:ea typeface="윤고딕" panose="020B0600000101010101" charset="-127"/>
              </a:rPr>
              <a:t>/ </a:t>
            </a:r>
            <a:r>
              <a:rPr lang="ko-KR" altLang="en-US" sz="2000" b="1" dirty="0">
                <a:latin typeface="윤고딕" panose="020B0600000101010101" charset="-127"/>
                <a:ea typeface="윤고딕" panose="020B0600000101010101" charset="-127"/>
              </a:rPr>
              <a:t>말벗 </a:t>
            </a:r>
            <a:r>
              <a:rPr lang="en" altLang="ko-KR" sz="2000" b="1" dirty="0">
                <a:latin typeface="윤고딕" panose="020B0600000101010101" charset="-127"/>
                <a:ea typeface="윤고딕" panose="020B0600000101010101" charset="-127"/>
              </a:rPr>
              <a:t>AI</a:t>
            </a:r>
            <a:r>
              <a:rPr lang="en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D31A5-DCFE-CFF8-4FCA-97AB675C4EEF}"/>
              </a:ext>
            </a:extLst>
          </p:cNvPr>
          <p:cNvSpPr txBox="1"/>
          <p:nvPr/>
        </p:nvSpPr>
        <p:spPr>
          <a:xfrm>
            <a:off x="5660010" y="8431768"/>
            <a:ext cx="2909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윤고딕" panose="020B0600000101010101" charset="-127"/>
                <a:ea typeface="윤고딕" panose="020B0600000101010101" charset="-127"/>
              </a:rPr>
              <a:t>감정 인식 및 대화 기능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AAF96625-B4CB-D6B3-9036-0244F2A26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380" y="4552520"/>
            <a:ext cx="728553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6B33CB7-BDA4-9B42-B8EC-9481C77A1411}"/>
              </a:ext>
            </a:extLst>
          </p:cNvPr>
          <p:cNvGrpSpPr/>
          <p:nvPr/>
        </p:nvGrpSpPr>
        <p:grpSpPr>
          <a:xfrm>
            <a:off x="9053865" y="4368752"/>
            <a:ext cx="3447012" cy="2199605"/>
            <a:chOff x="13201236" y="4368752"/>
            <a:chExt cx="3447012" cy="2199605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1FF70C9-9E89-11F8-0BBC-70C5BB210DD3}"/>
                </a:ext>
              </a:extLst>
            </p:cNvPr>
            <p:cNvSpPr/>
            <p:nvPr/>
          </p:nvSpPr>
          <p:spPr>
            <a:xfrm>
              <a:off x="13201236" y="4368752"/>
              <a:ext cx="3447012" cy="219960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윤고딕" panose="020B0600000101010101" charset="-127"/>
                <a:ea typeface="윤고딕" panose="020B0600000101010101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ECCA4F-FAAB-4A56-D191-EF59B58C86D3}"/>
                </a:ext>
              </a:extLst>
            </p:cNvPr>
            <p:cNvSpPr txBox="1"/>
            <p:nvPr/>
          </p:nvSpPr>
          <p:spPr>
            <a:xfrm>
              <a:off x="13614443" y="5570966"/>
              <a:ext cx="2620597" cy="348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0000" tIns="20000" rIns="40000" bIns="20000" anchor="ctr">
              <a:spAutoFit/>
            </a:bodyPr>
            <a:lstStyle/>
            <a:p>
              <a:pPr algn="ctr"/>
              <a:r>
                <a:rPr lang="ko-KR" altLang="en-US" sz="2000" b="1" dirty="0">
                  <a:latin typeface="윤고딕" panose="020B0600000101010101" charset="-127"/>
                  <a:ea typeface="윤고딕" panose="020B0600000101010101" charset="-127"/>
                </a:rPr>
                <a:t>의료 </a:t>
              </a:r>
              <a:r>
                <a:rPr lang="ko-KR" altLang="en-US" sz="2000" b="1" dirty="0" err="1">
                  <a:latin typeface="윤고딕" panose="020B0600000101010101" charset="-127"/>
                  <a:ea typeface="윤고딕" panose="020B0600000101010101" charset="-127"/>
                </a:rPr>
                <a:t>챗봇</a:t>
              </a:r>
              <a:r>
                <a:rPr lang="ko-KR" altLang="en-US" sz="2000" b="1" dirty="0">
                  <a:latin typeface="윤고딕" panose="020B0600000101010101" charset="-127"/>
                  <a:ea typeface="윤고딕" panose="020B0600000101010101" charset="-127"/>
                </a:rPr>
                <a:t> </a:t>
              </a:r>
              <a:r>
                <a:rPr lang="en-US" altLang="ko-KR" sz="2000" b="1" dirty="0">
                  <a:latin typeface="윤고딕" panose="020B0600000101010101" charset="-127"/>
                  <a:ea typeface="윤고딕" panose="020B0600000101010101" charset="-127"/>
                </a:rPr>
                <a:t>/ </a:t>
              </a:r>
              <a:r>
                <a:rPr lang="ko-KR" altLang="en-US" sz="2000" b="1" dirty="0">
                  <a:latin typeface="윤고딕" panose="020B0600000101010101" charset="-127"/>
                  <a:ea typeface="윤고딕" panose="020B0600000101010101" charset="-127"/>
                </a:rPr>
                <a:t>병원 예약</a:t>
              </a:r>
              <a:r>
                <a:rPr lang="en" altLang="ko-K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윤고딕" panose="020B0600000101010101" charset="-127"/>
                  <a:ea typeface="윤고딕" panose="020B0600000101010101" charset="-127"/>
                </a:rPr>
                <a:t>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F81A4D-F367-BB23-0748-107F7FE440F3}"/>
                </a:ext>
              </a:extLst>
            </p:cNvPr>
            <p:cNvSpPr txBox="1"/>
            <p:nvPr/>
          </p:nvSpPr>
          <p:spPr>
            <a:xfrm>
              <a:off x="13470096" y="5995534"/>
              <a:ext cx="29092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" altLang="ko-KR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윤고딕" panose="020B0600000101010101" charset="-127"/>
                  <a:ea typeface="윤고딕" panose="020B0600000101010101" charset="-127"/>
                </a:rPr>
                <a:t>AI </a:t>
              </a:r>
              <a:r>
                <a:rPr lang="ko-KR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윤고딕" panose="020B0600000101010101" charset="-127"/>
                  <a:ea typeface="윤고딕" panose="020B0600000101010101" charset="-127"/>
                </a:rPr>
                <a:t>상담 및 병원 예약 연동</a:t>
              </a:r>
              <a:endParaRPr lang="ko-KR" altLang="en-US" dirty="0">
                <a:latin typeface="윤고딕" panose="020B0600000101010101" charset="-127"/>
                <a:ea typeface="윤고딕" panose="020B0600000101010101" charset="-127"/>
              </a:endParaRPr>
            </a:p>
          </p:txBody>
        </p:sp>
        <p:pic>
          <p:nvPicPr>
            <p:cNvPr id="46" name="Picture 12">
              <a:extLst>
                <a:ext uri="{FF2B5EF4-FFF2-40B4-BE49-F238E27FC236}">
                  <a16:creationId xmlns:a16="http://schemas.microsoft.com/office/drawing/2014/main" id="{23D888EA-89A1-0E40-A705-166E16D31D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3972" y="4529818"/>
              <a:ext cx="741541" cy="79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3" name="Picture 14">
            <a:extLst>
              <a:ext uri="{FF2B5EF4-FFF2-40B4-BE49-F238E27FC236}">
                <a16:creationId xmlns:a16="http://schemas.microsoft.com/office/drawing/2014/main" id="{A83D9803-B58F-EE90-A303-FAEF3FB47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693" y="7083102"/>
            <a:ext cx="841926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053DD90B-EF08-F377-F00A-EADD2BBE02ED}"/>
              </a:ext>
            </a:extLst>
          </p:cNvPr>
          <p:cNvGrpSpPr/>
          <p:nvPr/>
        </p:nvGrpSpPr>
        <p:grpSpPr>
          <a:xfrm>
            <a:off x="9053865" y="6804986"/>
            <a:ext cx="3447012" cy="2199605"/>
            <a:chOff x="13164588" y="6804986"/>
            <a:chExt cx="3447012" cy="2199605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EE733CB8-640B-3BF3-806F-5FE1F19DC950}"/>
                </a:ext>
              </a:extLst>
            </p:cNvPr>
            <p:cNvSpPr/>
            <p:nvPr/>
          </p:nvSpPr>
          <p:spPr>
            <a:xfrm>
              <a:off x="13164588" y="6804986"/>
              <a:ext cx="3447012" cy="219960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윤고딕" panose="020B0600000101010101" charset="-127"/>
                <a:ea typeface="윤고딕" panose="020B0600000101010101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5FAC15C-12F0-5166-3655-B3D9F6EC57C8}"/>
                </a:ext>
              </a:extLst>
            </p:cNvPr>
            <p:cNvSpPr txBox="1"/>
            <p:nvPr/>
          </p:nvSpPr>
          <p:spPr>
            <a:xfrm>
              <a:off x="13727344" y="8007199"/>
              <a:ext cx="2321500" cy="348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40000" tIns="20000" rIns="40000" bIns="20000" anchor="ctr">
              <a:spAutoFit/>
            </a:bodyPr>
            <a:lstStyle/>
            <a:p>
              <a:pPr algn="ctr"/>
              <a:r>
                <a:rPr lang="ko-KR" altLang="en-US" sz="2000" b="1" dirty="0">
                  <a:latin typeface="윤고딕" panose="020B0600000101010101" charset="-127"/>
                  <a:ea typeface="윤고딕" panose="020B0600000101010101" charset="-127"/>
                </a:rPr>
                <a:t>통합 테스트 </a:t>
              </a:r>
              <a:r>
                <a:rPr lang="en-US" altLang="ko-KR" sz="2000" b="1" dirty="0">
                  <a:latin typeface="윤고딕" panose="020B0600000101010101" charset="-127"/>
                  <a:ea typeface="윤고딕" panose="020B0600000101010101" charset="-127"/>
                </a:rPr>
                <a:t>/ </a:t>
              </a:r>
              <a:r>
                <a:rPr lang="ko-KR" altLang="en-US" sz="2000" b="1" dirty="0">
                  <a:latin typeface="윤고딕" panose="020B0600000101010101" charset="-127"/>
                  <a:ea typeface="윤고딕" panose="020B0600000101010101" charset="-127"/>
                </a:rPr>
                <a:t>배포</a:t>
              </a:r>
              <a:r>
                <a:rPr lang="en" altLang="ko-K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윤고딕" panose="020B0600000101010101" charset="-127"/>
                  <a:ea typeface="윤고딕" panose="020B0600000101010101" charset="-127"/>
                </a:rPr>
                <a:t>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0C2FCB4-A190-AC96-8CFE-A1CACBF8ABE1}"/>
                </a:ext>
              </a:extLst>
            </p:cNvPr>
            <p:cNvSpPr txBox="1"/>
            <p:nvPr/>
          </p:nvSpPr>
          <p:spPr>
            <a:xfrm>
              <a:off x="13195860" y="8431768"/>
              <a:ext cx="33844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윤고딕" panose="020B0600000101010101" charset="-127"/>
                  <a:ea typeface="윤고딕" panose="020B0600000101010101" charset="-127"/>
                </a:rPr>
                <a:t>전체 기능 연동 및 서비스 배포</a:t>
              </a:r>
              <a:endParaRPr lang="ko-KR" altLang="en-US" dirty="0">
                <a:latin typeface="윤고딕" panose="020B0600000101010101" charset="-127"/>
                <a:ea typeface="윤고딕" panose="020B0600000101010101" charset="-127"/>
              </a:endParaRPr>
            </a:p>
          </p:txBody>
        </p:sp>
        <p:pic>
          <p:nvPicPr>
            <p:cNvPr id="60" name="Picture 16">
              <a:extLst>
                <a:ext uri="{FF2B5EF4-FFF2-40B4-BE49-F238E27FC236}">
                  <a16:creationId xmlns:a16="http://schemas.microsoft.com/office/drawing/2014/main" id="{5932F7AD-11BA-F916-24A6-7D61AB3AF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3192" y="7083708"/>
              <a:ext cx="649804" cy="7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83349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E5DC-6615-A95A-5708-4325F013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13">
            <a:extLst>
              <a:ext uri="{FF2B5EF4-FFF2-40B4-BE49-F238E27FC236}">
                <a16:creationId xmlns:a16="http://schemas.microsoft.com/office/drawing/2014/main" id="{1E340C1E-038F-0615-FE63-A9B562F1B845}"/>
              </a:ext>
            </a:extLst>
          </p:cNvPr>
          <p:cNvSpPr/>
          <p:nvPr/>
        </p:nvSpPr>
        <p:spPr>
          <a:xfrm>
            <a:off x="827543" y="3013273"/>
            <a:ext cx="4293936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B8C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1E0F0AD-FDC2-61E0-637B-5EF67504F8FA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D9FF3B-A664-D292-C02C-752531B71F1A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723AB7-EEB9-13F2-4985-6D74B6BD41EE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C16CD616-CF7B-C6EC-61E6-FC4D054D22D0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31F4919-2B06-D257-299A-BD1FE1CA6C4E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en-US" altLang="ko-KR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AI </a:t>
            </a: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활용 계획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28554512-4BDE-1DDF-D514-D9BD2E0FA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328" y="6183943"/>
            <a:ext cx="10625811" cy="4079022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08A8B81B-12DE-41BC-FFC5-B516583F7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328" y="2622107"/>
            <a:ext cx="11913583" cy="2736904"/>
          </a:xfrm>
          <a:prstGeom prst="rect">
            <a:avLst/>
          </a:prstGeom>
        </p:spPr>
      </p:pic>
      <p:sp>
        <p:nvSpPr>
          <p:cNvPr id="67" name="Shape 13">
            <a:extLst>
              <a:ext uri="{FF2B5EF4-FFF2-40B4-BE49-F238E27FC236}">
                <a16:creationId xmlns:a16="http://schemas.microsoft.com/office/drawing/2014/main" id="{5E855994-F9E9-3F00-DE16-2E0B06542C13}"/>
              </a:ext>
            </a:extLst>
          </p:cNvPr>
          <p:cNvSpPr/>
          <p:nvPr/>
        </p:nvSpPr>
        <p:spPr>
          <a:xfrm>
            <a:off x="827543" y="7200900"/>
            <a:ext cx="4293936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B8C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ABB7F112-50A5-386B-6555-EC4DD0E879E0}"/>
              </a:ext>
            </a:extLst>
          </p:cNvPr>
          <p:cNvSpPr/>
          <p:nvPr/>
        </p:nvSpPr>
        <p:spPr>
          <a:xfrm>
            <a:off x="1110524" y="7379347"/>
            <a:ext cx="695811" cy="695811"/>
          </a:xfrm>
          <a:prstGeom prst="roundRect">
            <a:avLst>
              <a:gd name="adj" fmla="val 23529"/>
            </a:avLst>
          </a:prstGeom>
          <a:solidFill>
            <a:srgbClr val="D6DFF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7786B0C-4A5E-F7FF-634E-940ABCB26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016" y="7495677"/>
            <a:ext cx="457303" cy="457303"/>
          </a:xfrm>
          <a:prstGeom prst="rect">
            <a:avLst/>
          </a:prstGeom>
        </p:spPr>
      </p:pic>
      <p:sp>
        <p:nvSpPr>
          <p:cNvPr id="70" name="Text 16">
            <a:extLst>
              <a:ext uri="{FF2B5EF4-FFF2-40B4-BE49-F238E27FC236}">
                <a16:creationId xmlns:a16="http://schemas.microsoft.com/office/drawing/2014/main" id="{626595E3-DEBB-F89A-B442-23D64A157499}"/>
              </a:ext>
            </a:extLst>
          </p:cNvPr>
          <p:cNvSpPr/>
          <p:nvPr/>
        </p:nvSpPr>
        <p:spPr>
          <a:xfrm>
            <a:off x="1501049" y="8155254"/>
            <a:ext cx="91380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endParaRPr lang="en-US" sz="675" dirty="0">
              <a:solidFill>
                <a:prstClr val="black"/>
              </a:solidFill>
            </a:endParaRPr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6E66AA03-7636-A66C-2515-4A476A6A427A}"/>
              </a:ext>
            </a:extLst>
          </p:cNvPr>
          <p:cNvSpPr/>
          <p:nvPr/>
        </p:nvSpPr>
        <p:spPr>
          <a:xfrm>
            <a:off x="1110524" y="8511548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endParaRPr lang="en-US" sz="788" dirty="0">
              <a:solidFill>
                <a:prstClr val="black"/>
              </a:solidFill>
            </a:endParaRPr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BE3B7FC5-03F9-9594-AC6F-4456897CA39E}"/>
              </a:ext>
            </a:extLst>
          </p:cNvPr>
          <p:cNvSpPr/>
          <p:nvPr/>
        </p:nvSpPr>
        <p:spPr>
          <a:xfrm>
            <a:off x="1110524" y="8680022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endParaRPr lang="en-US" sz="788" dirty="0">
              <a:solidFill>
                <a:prstClr val="black"/>
              </a:solidFill>
            </a:endParaRPr>
          </a:p>
        </p:txBody>
      </p:sp>
      <p:sp>
        <p:nvSpPr>
          <p:cNvPr id="74" name="Shape 46">
            <a:extLst>
              <a:ext uri="{FF2B5EF4-FFF2-40B4-BE49-F238E27FC236}">
                <a16:creationId xmlns:a16="http://schemas.microsoft.com/office/drawing/2014/main" id="{A83966B1-F83D-BEE6-7DF5-82A91BCCEE70}"/>
              </a:ext>
            </a:extLst>
          </p:cNvPr>
          <p:cNvSpPr/>
          <p:nvPr/>
        </p:nvSpPr>
        <p:spPr>
          <a:xfrm>
            <a:off x="1117669" y="3329898"/>
            <a:ext cx="698190" cy="698190"/>
          </a:xfrm>
          <a:prstGeom prst="roundRect">
            <a:avLst>
              <a:gd name="adj" fmla="val 23529"/>
            </a:avLst>
          </a:prstGeom>
          <a:solidFill>
            <a:srgbClr val="FAE0B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D357CB10-B20B-13DD-B579-15D6139BC1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171" y="3442728"/>
            <a:ext cx="547831" cy="547831"/>
          </a:xfrm>
          <a:prstGeom prst="rect">
            <a:avLst/>
          </a:prstGeom>
        </p:spPr>
      </p:pic>
      <p:sp>
        <p:nvSpPr>
          <p:cNvPr id="77" name="Text 8">
            <a:extLst>
              <a:ext uri="{FF2B5EF4-FFF2-40B4-BE49-F238E27FC236}">
                <a16:creationId xmlns:a16="http://schemas.microsoft.com/office/drawing/2014/main" id="{2841DE17-1C18-145A-AB1F-367E0BB7CA40}"/>
              </a:ext>
            </a:extLst>
          </p:cNvPr>
          <p:cNvSpPr/>
          <p:nvPr/>
        </p:nvSpPr>
        <p:spPr>
          <a:xfrm>
            <a:off x="1987309" y="7560548"/>
            <a:ext cx="3134170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실시간 이상 감지 알림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049D50E7-ED33-4F1D-7E6E-0713EC9024BF}"/>
              </a:ext>
            </a:extLst>
          </p:cNvPr>
          <p:cNvSpPr/>
          <p:nvPr/>
        </p:nvSpPr>
        <p:spPr>
          <a:xfrm>
            <a:off x="2000010" y="7922765"/>
            <a:ext cx="3330066" cy="651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카메라로 화재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·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흉기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·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낙상 자동 감지 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위험 상황 발생 시 가족에게 즉시 알림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0CA88BEB-4BE2-282A-8338-AFC39FB49F37}"/>
              </a:ext>
            </a:extLst>
          </p:cNvPr>
          <p:cNvSpPr/>
          <p:nvPr/>
        </p:nvSpPr>
        <p:spPr>
          <a:xfrm>
            <a:off x="2009534" y="3494974"/>
            <a:ext cx="1599312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의료 </a:t>
            </a:r>
            <a:r>
              <a:rPr lang="ko-KR" altLang="en-US" dirty="0" err="1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챗봇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1EBAB751-5A38-1C0D-A904-F8C120C7EEF2}"/>
              </a:ext>
            </a:extLst>
          </p:cNvPr>
          <p:cNvSpPr/>
          <p:nvPr/>
        </p:nvSpPr>
        <p:spPr>
          <a:xfrm>
            <a:off x="2009534" y="3806288"/>
            <a:ext cx="3556863" cy="39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의료 관련 궁금증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24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시간 즉시 답변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endParaRPr lang="ko-KR" altLang="en-US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9902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7" grpId="0" animBg="1"/>
      <p:bldP spid="78" grpId="0" animBg="1"/>
      <p:bldP spid="80" grpId="0" animBg="1"/>
      <p:bldP spid="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C849-2F8F-9B87-24D3-DCB8755D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3">
            <a:extLst>
              <a:ext uri="{FF2B5EF4-FFF2-40B4-BE49-F238E27FC236}">
                <a16:creationId xmlns:a16="http://schemas.microsoft.com/office/drawing/2014/main" id="{961033FD-5F22-2CA0-02CA-49D1504EEE77}"/>
              </a:ext>
            </a:extLst>
          </p:cNvPr>
          <p:cNvSpPr/>
          <p:nvPr/>
        </p:nvSpPr>
        <p:spPr>
          <a:xfrm>
            <a:off x="680645" y="6390656"/>
            <a:ext cx="4972010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B8C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014D80C2-9B91-3DA0-AD7A-470B48A6B791}"/>
              </a:ext>
            </a:extLst>
          </p:cNvPr>
          <p:cNvSpPr/>
          <p:nvPr/>
        </p:nvSpPr>
        <p:spPr>
          <a:xfrm>
            <a:off x="680645" y="2979842"/>
            <a:ext cx="4972009" cy="1644130"/>
          </a:xfrm>
          <a:prstGeom prst="roundRect">
            <a:avLst>
              <a:gd name="adj" fmla="val 9963"/>
            </a:avLst>
          </a:prstGeom>
          <a:solidFill>
            <a:srgbClr val="F2F5FF"/>
          </a:solidFill>
          <a:ln w="9525">
            <a:solidFill>
              <a:srgbClr val="B8C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3A262085-7FE5-83B3-E1A0-12ED5FEB2E8E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D04D5A-D222-3C95-358C-C27DBD2A1F9F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E91C7ED-8BE1-84B1-AA6B-8DB03F612660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66419F5-ED4C-9DCD-BC05-5256063E8FD0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1.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구현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FE0FC6C-9A88-BD54-BAD8-05ED5C8BD5A5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en-US" altLang="ko-KR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AI </a:t>
            </a: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활용 계획</a:t>
            </a:r>
          </a:p>
        </p:txBody>
      </p:sp>
      <p:sp>
        <p:nvSpPr>
          <p:cNvPr id="6" name="Shape 37">
            <a:extLst>
              <a:ext uri="{FF2B5EF4-FFF2-40B4-BE49-F238E27FC236}">
                <a16:creationId xmlns:a16="http://schemas.microsoft.com/office/drawing/2014/main" id="{27DE19D3-A3F8-FB7F-461F-54615397D41A}"/>
              </a:ext>
            </a:extLst>
          </p:cNvPr>
          <p:cNvSpPr/>
          <p:nvPr/>
        </p:nvSpPr>
        <p:spPr>
          <a:xfrm>
            <a:off x="1073618" y="6710906"/>
            <a:ext cx="716310" cy="716310"/>
          </a:xfrm>
          <a:prstGeom prst="roundRect">
            <a:avLst>
              <a:gd name="adj" fmla="val 23529"/>
            </a:avLst>
          </a:prstGeom>
          <a:solidFill>
            <a:srgbClr val="E2D8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E6779C36-07D9-526D-6DC6-A5A4786E3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57" y="6791303"/>
            <a:ext cx="556712" cy="556712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D9B4FF18-D13F-E857-A71F-D905F858A536}"/>
              </a:ext>
            </a:extLst>
          </p:cNvPr>
          <p:cNvSpPr/>
          <p:nvPr/>
        </p:nvSpPr>
        <p:spPr>
          <a:xfrm>
            <a:off x="1077192" y="3285657"/>
            <a:ext cx="689806" cy="689806"/>
          </a:xfrm>
          <a:prstGeom prst="roundRect">
            <a:avLst>
              <a:gd name="adj" fmla="val 23529"/>
            </a:avLst>
          </a:prstGeom>
          <a:solidFill>
            <a:srgbClr val="FCDDD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EA3083CA-94C9-8CA6-1454-96F722291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499" y="3436716"/>
            <a:ext cx="365191" cy="365191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F31608AE-C048-01A6-2194-F5264477362E}"/>
              </a:ext>
            </a:extLst>
          </p:cNvPr>
          <p:cNvSpPr/>
          <p:nvPr/>
        </p:nvSpPr>
        <p:spPr>
          <a:xfrm>
            <a:off x="1947972" y="3274408"/>
            <a:ext cx="2444991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11111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AI </a:t>
            </a:r>
            <a:r>
              <a:rPr lang="ko-KR" altLang="en-US" dirty="0">
                <a:solidFill>
                  <a:srgbClr val="111111"/>
                </a:solidFill>
                <a:latin typeface="윤고딕 Bold" panose="020B0600000101010101" charset="-127"/>
                <a:ea typeface="윤고딕 Bold" panose="020B0600000101010101" charset="-127"/>
                <a:cs typeface="Pretendard" pitchFamily="34" charset="-120"/>
              </a:rPr>
              <a:t>정서 상태 분석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5932241-2ED2-5986-7E43-B2E49BAFA3FC}"/>
              </a:ext>
            </a:extLst>
          </p:cNvPr>
          <p:cNvSpPr/>
          <p:nvPr/>
        </p:nvSpPr>
        <p:spPr>
          <a:xfrm>
            <a:off x="1953753" y="3630560"/>
            <a:ext cx="4157017" cy="68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텍스트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+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표정으로 </a:t>
            </a:r>
            <a:r>
              <a:rPr 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AI </a:t>
            </a:r>
            <a:r>
              <a:rPr lang="en-US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분석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을 통해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이상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심리 상태 </a:t>
            </a: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조기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en-US" altLang="ko-KR" sz="1400" dirty="0" err="1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감지</a:t>
            </a:r>
            <a:endParaRPr lang="en-US" altLang="ko-KR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  <a:p>
            <a:pPr>
              <a:lnSpc>
                <a:spcPct val="140000"/>
              </a:lnSpc>
            </a:pPr>
            <a:endParaRPr lang="en-US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FDD261E-F530-CAC6-C7F2-BDA430E789DB}"/>
              </a:ext>
            </a:extLst>
          </p:cNvPr>
          <p:cNvSpPr/>
          <p:nvPr/>
        </p:nvSpPr>
        <p:spPr>
          <a:xfrm>
            <a:off x="1239499" y="4275352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endParaRPr lang="en-US" sz="12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92C8ADA-5984-1AEB-FEE9-E591D4114CDC}"/>
              </a:ext>
            </a:extLst>
          </p:cNvPr>
          <p:cNvSpPr/>
          <p:nvPr/>
        </p:nvSpPr>
        <p:spPr>
          <a:xfrm>
            <a:off x="1947971" y="6711879"/>
            <a:ext cx="1221581" cy="28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AI </a:t>
            </a:r>
            <a:r>
              <a:rPr lang="ko-KR" altLang="en-US" dirty="0">
                <a:solidFill>
                  <a:prstClr val="black"/>
                </a:solidFill>
                <a:latin typeface="윤고딕 Bold" panose="020B0600000101010101" charset="-127"/>
                <a:ea typeface="윤고딕 Bold" panose="020B0600000101010101" charset="-127"/>
              </a:rPr>
              <a:t>말벗</a:t>
            </a:r>
            <a:endParaRPr lang="en-US" dirty="0">
              <a:solidFill>
                <a:prstClr val="black"/>
              </a:solidFill>
              <a:latin typeface="윤고딕 Bold" panose="020B0600000101010101" charset="-127"/>
              <a:ea typeface="윤고딕 Bold" panose="020B0600000101010101" charset="-127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721D66E-E21C-EB5D-0CFA-DE36990868BD}"/>
              </a:ext>
            </a:extLst>
          </p:cNvPr>
          <p:cNvSpPr/>
          <p:nvPr/>
        </p:nvSpPr>
        <p:spPr>
          <a:xfrm>
            <a:off x="1201261" y="7711467"/>
            <a:ext cx="2766632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endParaRPr lang="en-US" sz="12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A655C83-5236-172C-F842-AA7C1462536E}"/>
              </a:ext>
            </a:extLst>
          </p:cNvPr>
          <p:cNvSpPr/>
          <p:nvPr/>
        </p:nvSpPr>
        <p:spPr>
          <a:xfrm>
            <a:off x="1947971" y="7068031"/>
            <a:ext cx="3556863" cy="666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음성으로 자유롭게 대화하는 </a:t>
            </a:r>
            <a:endParaRPr lang="en-US" altLang="ko-KR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AI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동반자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외로움 해소 </a:t>
            </a:r>
            <a:r>
              <a:rPr lang="en-US" altLang="ko-KR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+ </a:t>
            </a:r>
            <a:r>
              <a:rPr lang="ko-KR" altLang="en-US" sz="1400" dirty="0">
                <a:solidFill>
                  <a:srgbClr val="555555"/>
                </a:solidFill>
                <a:latin typeface="윤고딕 Thin" panose="020B0600000101010101" charset="-127"/>
                <a:ea typeface="윤고딕 Thin" panose="020B0600000101010101" charset="-127"/>
                <a:cs typeface="Pretendard" pitchFamily="34" charset="-120"/>
              </a:rPr>
              <a:t>따뜻한 하루 함께하기</a:t>
            </a:r>
          </a:p>
          <a:p>
            <a:pPr>
              <a:lnSpc>
                <a:spcPct val="140000"/>
              </a:lnSpc>
            </a:pPr>
            <a:endParaRPr lang="ko-KR" altLang="en-US" sz="1400" dirty="0">
              <a:solidFill>
                <a:srgbClr val="555555"/>
              </a:solidFill>
              <a:latin typeface="윤고딕 Thin" panose="020B0600000101010101" charset="-127"/>
              <a:ea typeface="윤고딕 Thin" panose="020B0600000101010101" charset="-127"/>
              <a:cs typeface="Pretendard" pitchFamily="34" charset="-120"/>
            </a:endParaRPr>
          </a:p>
          <a:p>
            <a:pPr>
              <a:lnSpc>
                <a:spcPct val="140000"/>
              </a:lnSpc>
            </a:pPr>
            <a:endParaRPr lang="en-US" altLang="ko-KR" sz="1400" dirty="0">
              <a:solidFill>
                <a:prstClr val="black"/>
              </a:solidFill>
              <a:latin typeface="윤고딕 Thin" panose="020B0600000101010101" charset="-127"/>
              <a:ea typeface="윤고딕 Thin" panose="020B0600000101010101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930528E-35C2-820D-6E75-13EBC5804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508" y="2734781"/>
            <a:ext cx="11296578" cy="240511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3F56CE8-F482-146B-D6E1-29BAAF532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271" y="6111741"/>
            <a:ext cx="11662714" cy="247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75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104CE-3C94-9AF5-498A-2852AA26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3F8AD2-6844-C1E6-F8C2-13867BB5F9DB}"/>
              </a:ext>
            </a:extLst>
          </p:cNvPr>
          <p:cNvSpPr/>
          <p:nvPr/>
        </p:nvSpPr>
        <p:spPr>
          <a:xfrm>
            <a:off x="8543393" y="-7246564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2" y="0"/>
                </a:lnTo>
                <a:lnTo>
                  <a:pt x="14062122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E44ABA-074A-00BC-F992-0841625D39A4}"/>
              </a:ext>
            </a:extLst>
          </p:cNvPr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079D10-35A3-92FC-56FA-D8F823DB152A}"/>
              </a:ext>
            </a:extLst>
          </p:cNvPr>
          <p:cNvSpPr txBox="1"/>
          <p:nvPr/>
        </p:nvSpPr>
        <p:spPr>
          <a:xfrm>
            <a:off x="990600" y="2040101"/>
            <a:ext cx="9982200" cy="3792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2. </a:t>
            </a:r>
            <a:r>
              <a:rPr lang="ko-KR" alt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기능</a:t>
            </a:r>
            <a:r>
              <a:rPr lang="en-US" altLang="ko-KR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/</a:t>
            </a:r>
            <a:r>
              <a:rPr lang="ko-KR" alt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사용자 테스트 계획</a:t>
            </a:r>
            <a:endParaRPr lang="en-US" sz="11016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35A446-7F6A-F493-FE09-10D534C30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074" y="2500687"/>
            <a:ext cx="9422563" cy="942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8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A5AC-9323-A6A8-92E2-EC9679E5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79CB28-8478-4870-7D6A-8AEC9EBB369C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A3D040-716B-2D0C-F832-088CF7859F65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CECB77D-6697-5152-7ADA-A7F37615D9CC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1CADA97-381E-3954-0A73-E513E871AB35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2.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기능</a:t>
            </a:r>
            <a:r>
              <a:rPr lang="en-US" altLang="ko-KR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/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사용자 테스트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A91A87-E1CA-0025-3223-0E98429293D4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기능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ED6E0C8-E13E-6F7E-1BCD-FB57E55A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6595"/>
            <a:ext cx="16900016" cy="731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7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AEAB-C655-1368-B566-4889A74C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BF211D-E905-4D56-D508-BD26DB50D716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47377A-FD52-F089-50BB-4106E84B89EA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F03048-7CBA-10FD-7EBD-D2C07A9CEB0E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EF00C5BD-E30E-9CF5-BE20-317DA0250762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2.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기능</a:t>
            </a:r>
            <a:r>
              <a:rPr lang="en-US" altLang="ko-KR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/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사용자 테스트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B14C37F-92BC-A975-65EE-2675577290FA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사용자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ED0D0C-F2F0-5586-0A96-E5B4A297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09" y="3619500"/>
            <a:ext cx="1651809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4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A90B0-27BB-6063-2C6A-E8891042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B1AA23-BCEA-6056-3552-12CE99DD0477}"/>
              </a:ext>
            </a:extLst>
          </p:cNvPr>
          <p:cNvSpPr/>
          <p:nvPr/>
        </p:nvSpPr>
        <p:spPr>
          <a:xfrm>
            <a:off x="8543393" y="-7246564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2" y="0"/>
                </a:lnTo>
                <a:lnTo>
                  <a:pt x="14062122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72278E8-A0D1-69BD-7DAD-75BECE83443C}"/>
              </a:ext>
            </a:extLst>
          </p:cNvPr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779211-78A4-5B27-EFD0-19E7DD7F14A6}"/>
              </a:ext>
            </a:extLst>
          </p:cNvPr>
          <p:cNvSpPr txBox="1"/>
          <p:nvPr/>
        </p:nvSpPr>
        <p:spPr>
          <a:xfrm>
            <a:off x="990600" y="2040101"/>
            <a:ext cx="15316199" cy="1817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3. </a:t>
            </a:r>
            <a:r>
              <a:rPr lang="ko-KR" altLang="en-US" sz="11016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경진대회 출품 계획</a:t>
            </a:r>
            <a:endParaRPr lang="en-US" sz="11016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4A9970-BEAB-A498-95C5-A9B49278E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074" y="2500687"/>
            <a:ext cx="9422563" cy="942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58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3966-C0D8-E842-312C-6FBC72BA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72DB7A-45C9-8E1A-1CC2-631FDE539CB3}"/>
              </a:ext>
            </a:extLst>
          </p:cNvPr>
          <p:cNvGrpSpPr/>
          <p:nvPr/>
        </p:nvGrpSpPr>
        <p:grpSpPr>
          <a:xfrm>
            <a:off x="0" y="0"/>
            <a:ext cx="18288000" cy="1863876"/>
            <a:chOff x="0" y="0"/>
            <a:chExt cx="4816593" cy="4908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6EDAFB-9692-35E4-5907-D0B4D30AEB41}"/>
                </a:ext>
              </a:extLst>
            </p:cNvPr>
            <p:cNvSpPr/>
            <p:nvPr/>
          </p:nvSpPr>
          <p:spPr>
            <a:xfrm>
              <a:off x="0" y="0"/>
              <a:ext cx="4816592" cy="490897"/>
            </a:xfrm>
            <a:custGeom>
              <a:avLst/>
              <a:gdLst/>
              <a:ahLst/>
              <a:cxnLst/>
              <a:rect l="l" t="t" r="r" b="b"/>
              <a:pathLst>
                <a:path w="4816592" h="490897">
                  <a:moveTo>
                    <a:pt x="0" y="0"/>
                  </a:moveTo>
                  <a:lnTo>
                    <a:pt x="4816592" y="0"/>
                  </a:lnTo>
                  <a:lnTo>
                    <a:pt x="4816592" y="490897"/>
                  </a:lnTo>
                  <a:lnTo>
                    <a:pt x="0" y="490897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0EC80A-10A0-5568-D9F5-7DFCA349D158}"/>
                </a:ext>
              </a:extLst>
            </p:cNvPr>
            <p:cNvSpPr txBox="1"/>
            <p:nvPr/>
          </p:nvSpPr>
          <p:spPr>
            <a:xfrm>
              <a:off x="0" y="-38100"/>
              <a:ext cx="4816593" cy="52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65886EE0-97C1-B2A2-A0BE-19090A6AE015}"/>
              </a:ext>
            </a:extLst>
          </p:cNvPr>
          <p:cNvSpPr txBox="1"/>
          <p:nvPr/>
        </p:nvSpPr>
        <p:spPr>
          <a:xfrm>
            <a:off x="1028700" y="375482"/>
            <a:ext cx="5448206" cy="51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2"/>
              </a:lnSpc>
              <a:spcBef>
                <a:spcPct val="0"/>
              </a:spcBef>
            </a:pPr>
            <a:r>
              <a:rPr 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3. </a:t>
            </a:r>
            <a:r>
              <a:rPr lang="ko-KR" altLang="en-US" sz="308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경진대회 출품 계획</a:t>
            </a:r>
            <a:endParaRPr lang="en-US" sz="308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61C51FD-9FCB-C44C-E899-0673C1986C65}"/>
              </a:ext>
            </a:extLst>
          </p:cNvPr>
          <p:cNvSpPr txBox="1"/>
          <p:nvPr/>
        </p:nvSpPr>
        <p:spPr>
          <a:xfrm>
            <a:off x="1028700" y="716782"/>
            <a:ext cx="9258300" cy="931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29"/>
              </a:lnSpc>
              <a:spcBef>
                <a:spcPct val="0"/>
              </a:spcBef>
            </a:pPr>
            <a:r>
              <a:rPr lang="ko-KR" altLang="en-US" sz="5000" dirty="0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경진대회 출품 계획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582834-1775-27A6-CD8F-857EC55F1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08537"/>
            <a:ext cx="15773400" cy="803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5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43393" y="-7246564"/>
            <a:ext cx="14062121" cy="14062121"/>
          </a:xfrm>
          <a:custGeom>
            <a:avLst/>
            <a:gdLst/>
            <a:ahLst/>
            <a:cxnLst/>
            <a:rect l="l" t="t" r="r" b="b"/>
            <a:pathLst>
              <a:path w="14062121" h="14062121">
                <a:moveTo>
                  <a:pt x="0" y="0"/>
                </a:moveTo>
                <a:lnTo>
                  <a:pt x="14062122" y="0"/>
                </a:lnTo>
                <a:lnTo>
                  <a:pt x="14062122" y="14062122"/>
                </a:lnTo>
                <a:lnTo>
                  <a:pt x="0" y="1406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6158827" y="6300816"/>
            <a:ext cx="11304183" cy="11304183"/>
          </a:xfrm>
          <a:custGeom>
            <a:avLst/>
            <a:gdLst/>
            <a:ahLst/>
            <a:cxnLst/>
            <a:rect l="l" t="t" r="r" b="b"/>
            <a:pathLst>
              <a:path w="11304183" h="11304183">
                <a:moveTo>
                  <a:pt x="0" y="0"/>
                </a:moveTo>
                <a:lnTo>
                  <a:pt x="11304183" y="0"/>
                </a:lnTo>
                <a:lnTo>
                  <a:pt x="11304183" y="11304183"/>
                </a:lnTo>
                <a:lnTo>
                  <a:pt x="0" y="11304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4E81AD-D042-4A8D-A5E4-A9C2B8C95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074" y="2500687"/>
            <a:ext cx="9422563" cy="9422563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10E6A069-BAC6-42D8-A5B0-8E5AE42F461E}"/>
              </a:ext>
            </a:extLst>
          </p:cNvPr>
          <p:cNvSpPr txBox="1"/>
          <p:nvPr/>
        </p:nvSpPr>
        <p:spPr>
          <a:xfrm>
            <a:off x="1408349" y="4201660"/>
            <a:ext cx="7735651" cy="197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22"/>
              </a:lnSpc>
              <a:spcBef>
                <a:spcPct val="0"/>
              </a:spcBef>
            </a:pPr>
            <a:r>
              <a:rPr lang="en-US" sz="11016" dirty="0" err="1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감사합니다</a:t>
            </a:r>
            <a:endParaRPr lang="en-US" sz="11016" dirty="0">
              <a:solidFill>
                <a:srgbClr val="FFFFFF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D32AB-947A-4B18-850E-1B5F19371B75}"/>
              </a:ext>
            </a:extLst>
          </p:cNvPr>
          <p:cNvSpPr txBox="1"/>
          <p:nvPr/>
        </p:nvSpPr>
        <p:spPr>
          <a:xfrm>
            <a:off x="1408348" y="3348734"/>
            <a:ext cx="14593652" cy="852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4"/>
              </a:lnSpc>
              <a:spcBef>
                <a:spcPct val="0"/>
              </a:spcBef>
            </a:pPr>
            <a:r>
              <a:rPr lang="en-US" altLang="ko-KR" sz="48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2</a:t>
            </a:r>
            <a:r>
              <a:rPr lang="ko-KR" altLang="en-US" sz="4800" dirty="0">
                <a:solidFill>
                  <a:srgbClr val="FFFFFF"/>
                </a:solidFill>
                <a:latin typeface="윤고딕 Thin"/>
                <a:ea typeface="윤고딕 Thin"/>
                <a:cs typeface="윤고딕 Thin"/>
                <a:sym typeface="윤고딕 Thin"/>
              </a:rPr>
              <a:t>학기 파이팅</a:t>
            </a:r>
            <a:endParaRPr lang="en-US" sz="4800" dirty="0">
              <a:solidFill>
                <a:srgbClr val="FFFFFF"/>
              </a:solidFill>
              <a:latin typeface="윤고딕 Thin"/>
              <a:ea typeface="윤고딕 Thin"/>
              <a:cs typeface="윤고딕 Thin"/>
              <a:sym typeface="윤고딕 Thin"/>
            </a:endParaRPr>
          </a:p>
        </p:txBody>
      </p:sp>
    </p:spTree>
    <p:extLst>
      <p:ext uri="{BB962C8B-B14F-4D97-AF65-F5344CB8AC3E}">
        <p14:creationId xmlns:p14="http://schemas.microsoft.com/office/powerpoint/2010/main" val="1038330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5185</TotalTime>
  <Words>514</Words>
  <Application>Microsoft Office PowerPoint</Application>
  <PresentationFormat>사용자 지정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윤고딕 Thin</vt:lpstr>
      <vt:lpstr>Calibri</vt:lpstr>
      <vt:lpstr>윤고딕</vt:lpstr>
      <vt:lpstr>Arial</vt:lpstr>
      <vt:lpstr>맑은 고딕</vt:lpstr>
      <vt:lpstr>윤고딕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MyoungJin NamGung</dc:creator>
  <cp:lastModifiedBy>남궁명진</cp:lastModifiedBy>
  <cp:revision>135</cp:revision>
  <dcterms:created xsi:type="dcterms:W3CDTF">2006-08-16T00:00:00Z</dcterms:created>
  <dcterms:modified xsi:type="dcterms:W3CDTF">2026-08-25T11:39:12Z</dcterms:modified>
  <dc:identifier>DAHHclg8taQ</dc:identifier>
</cp:coreProperties>
</file>